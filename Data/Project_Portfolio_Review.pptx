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371600"/>
            <a:ext cx="108173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A252F"/>
                </a:solidFill>
                <a:latin typeface="Outfit"/>
              </a:defRPr>
            </a:pPr>
            <a:r>
              <a:t>Project Portfolio Executive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926080"/>
            <a:ext cx="1081735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3000" b="1">
                <a:solidFill>
                  <a:srgbClr val="2C3E50"/>
                </a:solidFill>
                <a:latin typeface="Inter"/>
              </a:defRPr>
            </a:pPr>
            <a:r>
              <a:t>Q2 2026 Status Report | Frank Ellingsen</a:t>
            </a:r>
          </a:p>
          <a:p>
            <a:pPr>
              <a:spcAft>
                <a:spcPts val="1400"/>
              </a:spcAft>
              <a:defRPr sz="3000">
                <a:solidFill>
                  <a:srgbClr val="555555"/>
                </a:solidFill>
                <a:latin typeface="Inter"/>
              </a:defRPr>
            </a:pPr>
            <a:r>
              <a:t>• Comprehensive status of 6 active &amp; completed projects</a:t>
            </a:r>
          </a:p>
          <a:p>
            <a:pPr>
              <a:spcAft>
                <a:spcPts val="1400"/>
              </a:spcAft>
              <a:defRPr sz="3000">
                <a:solidFill>
                  <a:srgbClr val="555555"/>
                </a:solidFill>
                <a:latin typeface="Inter"/>
              </a:defRPr>
            </a:pPr>
            <a:r>
              <a:t>• EVM metrics overview &amp; financial audits</a:t>
            </a:r>
          </a:p>
          <a:p>
            <a:pPr>
              <a:spcAft>
                <a:spcPts val="1400"/>
              </a:spcAft>
              <a:defRPr sz="3000">
                <a:solidFill>
                  <a:srgbClr val="555555"/>
                </a:solidFill>
                <a:latin typeface="Inter"/>
              </a:defRPr>
            </a:pPr>
            <a:r>
              <a:t>• Strategic recommendations &amp; corrective actions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A252F"/>
                </a:solidFill>
                <a:latin typeface="Outfit"/>
              </a:defRPr>
            </a:pPr>
            <a:r>
              <a:t>Portfolio Gantt of Gantts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1280160"/>
            <a:ext cx="1143802" cy="27432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4748B"/>
                </a:solidFill>
                <a:latin typeface="Inter"/>
              </a:defRPr>
            </a:pPr>
            <a:r>
              <a:t>Q4 2025</a:t>
            </a:r>
          </a:p>
        </p:txBody>
      </p:sp>
      <p:sp>
        <p:nvSpPr>
          <p:cNvPr id="4" name="Rectangle 3"/>
          <p:cNvSpPr/>
          <p:nvPr/>
        </p:nvSpPr>
        <p:spPr>
          <a:xfrm>
            <a:off x="5258602" y="1280160"/>
            <a:ext cx="1118936" cy="27432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4748B"/>
                </a:solidFill>
                <a:latin typeface="Inter"/>
              </a:defRPr>
            </a:pPr>
            <a:r>
              <a:t>Q1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377538" y="1280160"/>
            <a:ext cx="1131369" cy="27432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4748B"/>
                </a:solidFill>
                <a:latin typeface="Inter"/>
              </a:defRPr>
            </a:pPr>
            <a:r>
              <a:t>Q2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508908" y="1280160"/>
            <a:ext cx="1143802" cy="27432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4748B"/>
                </a:solidFill>
                <a:latin typeface="Inter"/>
              </a:defRPr>
            </a:pPr>
            <a:r>
              <a:t>Q3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8652710" y="1280160"/>
            <a:ext cx="1143802" cy="27432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64748B"/>
                </a:solidFill>
                <a:latin typeface="Inter"/>
              </a:defRPr>
            </a:pPr>
            <a:r>
              <a:t>Q4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A252F"/>
                </a:solidFill>
                <a:latin typeface="Outfit"/>
              </a:defRPr>
            </a:pPr>
            <a:r>
              <a:t>PRJ-001: Composite Vessel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258602" y="1691640"/>
            <a:ext cx="2237873" cy="9144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58602" y="1828800"/>
            <a:ext cx="2237873" cy="16459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58602" y="1828800"/>
            <a:ext cx="2226684" cy="16459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19" y="1737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74C3C"/>
                </a:solidFill>
                <a:latin typeface="Inter"/>
              </a:defRPr>
            </a:pPr>
            <a:r>
              <a:t>99.5% | 🔴 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7744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A252F"/>
                </a:solidFill>
                <a:latin typeface="Outfit"/>
              </a:defRPr>
            </a:pPr>
            <a:r>
              <a:t>PRJ-002: Patrol Vessel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94320" y="2423160"/>
            <a:ext cx="1889759" cy="9144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94320" y="2560320"/>
            <a:ext cx="1889759" cy="164592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19" y="24688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ECC71"/>
                </a:solidFill>
                <a:latin typeface="Inter"/>
              </a:defRPr>
            </a:pPr>
            <a:r>
              <a:t>0.0% | 🟢 GRN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10896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A252F"/>
                </a:solidFill>
                <a:latin typeface="Outfit"/>
              </a:defRPr>
            </a:pPr>
            <a:r>
              <a:t>PRJ-003: Subsea Frame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50517" y="3154680"/>
            <a:ext cx="2275171" cy="9144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50517" y="3291840"/>
            <a:ext cx="2275171" cy="164592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750517" y="3291840"/>
            <a:ext cx="682551" cy="16459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5519" y="320040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ECC71"/>
                </a:solidFill>
                <a:latin typeface="Inter"/>
              </a:defRPr>
            </a:pPr>
            <a:r>
              <a:t>30.0% | 🟢 GRN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A252F"/>
                </a:solidFill>
                <a:latin typeface="Outfit"/>
              </a:defRPr>
            </a:pPr>
            <a:r>
              <a:t>PRJ-004: Workboat Hull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92127" y="3886200"/>
            <a:ext cx="2275171" cy="9144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92127" y="4023360"/>
            <a:ext cx="2275171" cy="164592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92127" y="4023360"/>
            <a:ext cx="1592620" cy="16459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19" y="39319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ECC71"/>
                </a:solidFill>
                <a:latin typeface="Inter"/>
              </a:defRPr>
            </a:pPr>
            <a:r>
              <a:t>70.0% | 🟢 GRN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5720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A252F"/>
                </a:solidFill>
                <a:latin typeface="Outfit"/>
              </a:defRPr>
            </a:pPr>
            <a:r>
              <a:t>PRJ-005: Logistics Pontoon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44013" y="4617720"/>
            <a:ext cx="2237873" cy="9144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44013" y="4754880"/>
            <a:ext cx="2237873" cy="164592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44013" y="4754880"/>
            <a:ext cx="2014086" cy="16459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75519" y="466344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ECC71"/>
                </a:solidFill>
                <a:latin typeface="Inter"/>
              </a:defRPr>
            </a:pPr>
            <a:r>
              <a:t>90.0% | 🟢 GRN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3035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A252F"/>
                </a:solidFill>
                <a:latin typeface="Outfit"/>
              </a:defRPr>
            </a:pPr>
            <a:r>
              <a:t>PRJ-006: Cargo Hatch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0" y="5349240"/>
            <a:ext cx="2250306" cy="9144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114800" y="5486400"/>
            <a:ext cx="2250306" cy="164592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114800" y="5486400"/>
            <a:ext cx="2250306" cy="16459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19" y="5394959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ECC71"/>
                </a:solidFill>
                <a:latin typeface="Inter"/>
              </a:defRPr>
            </a:pPr>
            <a:r>
              <a:t>100.0% | 🟢 GRN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A252F"/>
                </a:solidFill>
                <a:latin typeface="Outfit"/>
              </a:defRPr>
            </a:pPr>
            <a:r>
              <a:t>1. Portfolio Overview &amp; Health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828800"/>
            <a:ext cx="108173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3000">
                <a:solidFill>
                  <a:srgbClr val="555555"/>
                </a:solidFill>
                <a:latin typeface="Inter"/>
              </a:defRPr>
            </a:pPr>
            <a:r>
              <a:t>• Total Baseline (BAC): 7,100,000 USD</a:t>
            </a:r>
          </a:p>
          <a:p>
            <a:pPr>
              <a:spcAft>
                <a:spcPts val="2000"/>
              </a:spcAft>
              <a:defRPr sz="3000">
                <a:solidFill>
                  <a:srgbClr val="555555"/>
                </a:solidFill>
                <a:latin typeface="Inter"/>
              </a:defRPr>
            </a:pPr>
            <a:r>
              <a:t>• Total Spent (AC): 5,220,810 USD</a:t>
            </a:r>
          </a:p>
          <a:p>
            <a:pPr>
              <a:spcAft>
                <a:spcPts val="2000"/>
              </a:spcAft>
              <a:defRPr sz="3000">
                <a:solidFill>
                  <a:srgbClr val="555555"/>
                </a:solidFill>
                <a:latin typeface="Inter"/>
              </a:defRPr>
            </a:pPr>
            <a:r>
              <a:t>• Earned Value (EV): 4,752,500 USD</a:t>
            </a:r>
          </a:p>
          <a:p>
            <a:pPr>
              <a:spcAft>
                <a:spcPts val="2000"/>
              </a:spcAft>
              <a:defRPr sz="3000">
                <a:solidFill>
                  <a:srgbClr val="555555"/>
                </a:solidFill>
                <a:latin typeface="Inter"/>
              </a:defRPr>
            </a:pPr>
            <a:r>
              <a:t>• Portfolio CPI: 0.91 (Muted cost overrun)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A252F"/>
                </a:solidFill>
                <a:latin typeface="Outfit"/>
              </a:defRPr>
            </a:pPr>
            <a:r>
              <a:t>2. PRJ-001 Vessel Construction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59436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74C3C"/>
                </a:solidFill>
                <a:latin typeface="Inter"/>
              </a:defRPr>
            </a:pPr>
            <a:r>
              <a:t>🔴 CRITICAL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173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3000">
                <a:solidFill>
                  <a:srgbClr val="E74C3C"/>
                </a:solidFill>
                <a:latin typeface="Inter"/>
              </a:defRPr>
            </a:pPr>
            <a:r>
              <a:t>• Status: Completed (99.5% progress) | 🔴 RED</a:t>
            </a:r>
          </a:p>
          <a:p>
            <a:pPr>
              <a:spcAft>
                <a:spcPts val="2000"/>
              </a:spcAft>
              <a:defRPr sz="3000">
                <a:solidFill>
                  <a:srgbClr val="555555"/>
                </a:solidFill>
                <a:latin typeface="Inter"/>
              </a:defRPr>
            </a:pPr>
            <a:r>
              <a:t>• Baseline: 1.5M USD | Actual Cost: 1.85M USD</a:t>
            </a:r>
          </a:p>
          <a:p>
            <a:pPr>
              <a:spcAft>
                <a:spcPts val="2000"/>
              </a:spcAft>
              <a:defRPr sz="3000">
                <a:solidFill>
                  <a:srgbClr val="555555"/>
                </a:solidFill>
                <a:latin typeface="Inter"/>
              </a:defRPr>
            </a:pPr>
            <a:r>
              <a:t>• CPI: 0.81 | Total Overrun: -356K USD</a:t>
            </a:r>
          </a:p>
          <a:p>
            <a:pPr>
              <a:spcAft>
                <a:spcPts val="2000"/>
              </a:spcAft>
              <a:defRPr sz="3000">
                <a:solidFill>
                  <a:srgbClr val="555555"/>
                </a:solidFill>
                <a:latin typeface="Inter"/>
              </a:defRPr>
            </a:pPr>
            <a:r>
              <a:t>• Action: Renegotiate contractor rates &amp; freeze VOs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A252F"/>
                </a:solidFill>
                <a:latin typeface="Outfit"/>
              </a:defRPr>
            </a:pPr>
            <a:r>
              <a:t>3. PRJ-002 Patrol Vessel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59436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ECC71"/>
                </a:solidFill>
                <a:latin typeface="Inter"/>
              </a:defRPr>
            </a:pPr>
            <a:r>
              <a:t>🟢 ON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173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3000">
                <a:solidFill>
                  <a:srgbClr val="2ECC71"/>
                </a:solidFill>
                <a:latin typeface="Inter"/>
              </a:defRPr>
            </a:pPr>
            <a:r>
              <a:t>• Status: Planned (0% progress) | 🟢 GREEN</a:t>
            </a:r>
          </a:p>
          <a:p>
            <a:pPr>
              <a:spcAft>
                <a:spcPts val="2000"/>
              </a:spcAft>
              <a:defRPr sz="3000">
                <a:solidFill>
                  <a:srgbClr val="555555"/>
                </a:solidFill>
                <a:latin typeface="Inter"/>
              </a:defRPr>
            </a:pPr>
            <a:r>
              <a:t>• Baseline Budget: 800,000 USD</a:t>
            </a:r>
          </a:p>
          <a:p>
            <a:pPr>
              <a:spcAft>
                <a:spcPts val="2000"/>
              </a:spcAft>
              <a:defRPr sz="3000">
                <a:solidFill>
                  <a:srgbClr val="555555"/>
                </a:solidFill>
                <a:latin typeface="Inter"/>
              </a:defRPr>
            </a:pPr>
            <a:r>
              <a:t>• Planned Start: Aug 2026 | Finish: Dec 2026</a:t>
            </a:r>
          </a:p>
          <a:p>
            <a:pPr>
              <a:spcAft>
                <a:spcPts val="2000"/>
              </a:spcAft>
              <a:defRPr sz="3000">
                <a:solidFill>
                  <a:srgbClr val="555555"/>
                </a:solidFill>
                <a:latin typeface="Inter"/>
              </a:defRPr>
            </a:pPr>
            <a:r>
              <a:t>• Focus: Carbon mold design and CFD analysis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A252F"/>
                </a:solidFill>
                <a:latin typeface="Outfit"/>
              </a:defRPr>
            </a:pPr>
            <a:r>
              <a:t>4. PRJ-003 Subsea Frame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59436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ECC71"/>
                </a:solidFill>
                <a:latin typeface="Inter"/>
              </a:defRPr>
            </a:pPr>
            <a:r>
              <a:t>🟢 ON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173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3000">
                <a:solidFill>
                  <a:srgbClr val="2ECC71"/>
                </a:solidFill>
                <a:latin typeface="Inter"/>
              </a:defRPr>
            </a:pPr>
            <a:r>
              <a:t>• Status: Active (30% progress) | 🟢 GREEN</a:t>
            </a:r>
          </a:p>
          <a:p>
            <a:pPr>
              <a:spcAft>
                <a:spcPts val="2000"/>
              </a:spcAft>
              <a:defRPr sz="3000">
                <a:solidFill>
                  <a:srgbClr val="555555"/>
                </a:solidFill>
                <a:latin typeface="Inter"/>
              </a:defRPr>
            </a:pPr>
            <a:r>
              <a:t>• Baseline: 1.2M USD | Spent: 382.5K USD</a:t>
            </a:r>
          </a:p>
          <a:p>
            <a:pPr>
              <a:spcAft>
                <a:spcPts val="2000"/>
              </a:spcAft>
              <a:defRPr sz="3000">
                <a:solidFill>
                  <a:srgbClr val="555555"/>
                </a:solidFill>
                <a:latin typeface="Inter"/>
              </a:defRPr>
            </a:pPr>
            <a:r>
              <a:t>• CPI: 0.94 (Tracking close to budget)</a:t>
            </a:r>
          </a:p>
          <a:p>
            <a:pPr>
              <a:spcAft>
                <a:spcPts val="2000"/>
              </a:spcAft>
              <a:defRPr sz="3000">
                <a:solidFill>
                  <a:srgbClr val="555555"/>
                </a:solidFill>
                <a:latin typeface="Inter"/>
              </a:defRPr>
            </a:pPr>
            <a:r>
              <a:t>• Focus: Engineering complete, steel fabrication starting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A252F"/>
                </a:solidFill>
                <a:latin typeface="Outfit"/>
              </a:defRPr>
            </a:pPr>
            <a:r>
              <a:t>5. PRJ-004 Workboat Hull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59436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ECC71"/>
                </a:solidFill>
                <a:latin typeface="Inter"/>
              </a:defRPr>
            </a:pPr>
            <a:r>
              <a:t>🟢 ON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173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3000">
                <a:solidFill>
                  <a:srgbClr val="2ECC71"/>
                </a:solidFill>
                <a:latin typeface="Inter"/>
              </a:defRPr>
            </a:pPr>
            <a:r>
              <a:t>• Status: Active (70% progress) | 🟢 GREEN</a:t>
            </a:r>
          </a:p>
          <a:p>
            <a:pPr>
              <a:spcAft>
                <a:spcPts val="2000"/>
              </a:spcAft>
              <a:defRPr sz="3000">
                <a:solidFill>
                  <a:srgbClr val="555555"/>
                </a:solidFill>
                <a:latin typeface="Inter"/>
              </a:defRPr>
            </a:pPr>
            <a:r>
              <a:t>• Baseline: 2.0M USD | Spent: 1.48M USD</a:t>
            </a:r>
          </a:p>
          <a:p>
            <a:pPr>
              <a:spcAft>
                <a:spcPts val="2000"/>
              </a:spcAft>
              <a:defRPr sz="3000">
                <a:solidFill>
                  <a:srgbClr val="555555"/>
                </a:solidFill>
                <a:latin typeface="Inter"/>
              </a:defRPr>
            </a:pPr>
            <a:r>
              <a:t>• CPI: 0.95 (Slight budget pressure)</a:t>
            </a:r>
          </a:p>
          <a:p>
            <a:pPr>
              <a:spcAft>
                <a:spcPts val="2000"/>
              </a:spcAft>
              <a:defRPr sz="3000">
                <a:solidFill>
                  <a:srgbClr val="555555"/>
                </a:solidFill>
                <a:latin typeface="Inter"/>
              </a:defRPr>
            </a:pPr>
            <a:r>
              <a:t>• Focus: Drawings approved, welding &amp; assembly ongoing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A252F"/>
                </a:solidFill>
                <a:latin typeface="Outfit"/>
              </a:defRPr>
            </a:pPr>
            <a:r>
              <a:t>6. PRJ-005 Logistics Pontoon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59436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ECC71"/>
                </a:solidFill>
                <a:latin typeface="Inter"/>
              </a:defRPr>
            </a:pPr>
            <a:r>
              <a:t>🟢 ON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173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3000">
                <a:solidFill>
                  <a:srgbClr val="2ECC71"/>
                </a:solidFill>
                <a:latin typeface="Inter"/>
              </a:defRPr>
            </a:pPr>
            <a:r>
              <a:t>• Status: Active (90% progress) | 🟢 GREEN</a:t>
            </a:r>
          </a:p>
          <a:p>
            <a:pPr>
              <a:spcAft>
                <a:spcPts val="2000"/>
              </a:spcAft>
              <a:defRPr sz="3000">
                <a:solidFill>
                  <a:srgbClr val="555555"/>
                </a:solidFill>
                <a:latin typeface="Inter"/>
              </a:defRPr>
            </a:pPr>
            <a:r>
              <a:t>• Baseline: 1.0M USD | Spent: 927K USD</a:t>
            </a:r>
          </a:p>
          <a:p>
            <a:pPr>
              <a:spcAft>
                <a:spcPts val="2000"/>
              </a:spcAft>
              <a:defRPr sz="3000">
                <a:solidFill>
                  <a:srgbClr val="555555"/>
                </a:solidFill>
                <a:latin typeface="Inter"/>
              </a:defRPr>
            </a:pPr>
            <a:r>
              <a:t>• CPI: 0.97 (In good financial standing)</a:t>
            </a:r>
          </a:p>
          <a:p>
            <a:pPr>
              <a:spcAft>
                <a:spcPts val="2000"/>
              </a:spcAft>
              <a:defRPr sz="3000">
                <a:solidFill>
                  <a:srgbClr val="555555"/>
                </a:solidFill>
                <a:latin typeface="Inter"/>
              </a:defRPr>
            </a:pPr>
            <a:r>
              <a:t>• Project Manager: Frank Ellingsen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A252F"/>
                </a:solidFill>
                <a:latin typeface="Outfit"/>
              </a:defRPr>
            </a:pPr>
            <a:r>
              <a:t>7. PRJ-006 Cargo Hatch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59436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ECC71"/>
                </a:solidFill>
                <a:latin typeface="Inter"/>
              </a:defRPr>
            </a:pPr>
            <a:r>
              <a:t>🟢 ON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173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3000">
                <a:solidFill>
                  <a:srgbClr val="2ECC71"/>
                </a:solidFill>
                <a:latin typeface="Inter"/>
              </a:defRPr>
            </a:pPr>
            <a:r>
              <a:t>• Status: Completed (100% progress) | 🟢 GREEN</a:t>
            </a:r>
          </a:p>
          <a:p>
            <a:pPr>
              <a:spcAft>
                <a:spcPts val="2000"/>
              </a:spcAft>
              <a:defRPr sz="3000">
                <a:solidFill>
                  <a:srgbClr val="555555"/>
                </a:solidFill>
                <a:latin typeface="Inter"/>
              </a:defRPr>
            </a:pPr>
            <a:r>
              <a:t>• Baseline: 600,000 USD | Spent: 586,500 USD</a:t>
            </a:r>
          </a:p>
          <a:p>
            <a:pPr>
              <a:spcAft>
                <a:spcPts val="2000"/>
              </a:spcAft>
              <a:defRPr sz="3000">
                <a:solidFill>
                  <a:srgbClr val="555555"/>
                </a:solidFill>
                <a:latin typeface="Inter"/>
              </a:defRPr>
            </a:pPr>
            <a:r>
              <a:t>• CPI: 1.02 (Under budget success)</a:t>
            </a:r>
          </a:p>
          <a:p>
            <a:pPr>
              <a:spcAft>
                <a:spcPts val="2000"/>
              </a:spcAft>
              <a:defRPr sz="3000">
                <a:solidFill>
                  <a:srgbClr val="555555"/>
                </a:solidFill>
                <a:latin typeface="Inter"/>
              </a:defRPr>
            </a:pPr>
            <a:r>
              <a:t>• Deliverables: Molding &amp; testing fully verified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A252F"/>
                </a:solidFill>
                <a:latin typeface="Outfit"/>
              </a:defRPr>
            </a:pPr>
            <a:r>
              <a:t>8. Key Portfolio Risks &amp; RAID 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828800"/>
            <a:ext cx="108173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3000">
                <a:solidFill>
                  <a:srgbClr val="555555"/>
                </a:solidFill>
                <a:latin typeface="Inter"/>
              </a:defRPr>
            </a:pPr>
            <a:r>
              <a:t>• Risk: Carbon sheet delivery delay from supplier</a:t>
            </a:r>
          </a:p>
          <a:p>
            <a:pPr>
              <a:spcAft>
                <a:spcPts val="2000"/>
              </a:spcAft>
              <a:defRPr sz="3000">
                <a:solidFill>
                  <a:srgbClr val="555555"/>
                </a:solidFill>
                <a:latin typeface="Inter"/>
              </a:defRPr>
            </a:pPr>
            <a:r>
              <a:t>• Issue: Welder overtime limits exceeded in fabrication</a:t>
            </a:r>
          </a:p>
          <a:p>
            <a:pPr>
              <a:spcAft>
                <a:spcPts val="2000"/>
              </a:spcAft>
              <a:defRPr sz="3000">
                <a:solidFill>
                  <a:srgbClr val="555555"/>
                </a:solidFill>
                <a:latin typeface="Inter"/>
              </a:defRPr>
            </a:pPr>
            <a:r>
              <a:t>• Dependency: Sea trials depend on DNV class approval</a:t>
            </a:r>
          </a:p>
          <a:p>
            <a:pPr>
              <a:spcAft>
                <a:spcPts val="2000"/>
              </a:spcAft>
              <a:defRPr sz="3000">
                <a:solidFill>
                  <a:srgbClr val="555555"/>
                </a:solidFill>
                <a:latin typeface="Inter"/>
              </a:defRPr>
            </a:pPr>
            <a:r>
              <a:t>• Mitigation: Allocate junior welders to assist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173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A252F"/>
                </a:solidFill>
                <a:latin typeface="Outfit"/>
              </a:defRPr>
            </a:pPr>
            <a:r>
              <a:t>9. Recommendations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828800"/>
            <a:ext cx="108173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3000">
                <a:solidFill>
                  <a:srgbClr val="555555"/>
                </a:solidFill>
                <a:latin typeface="Inter"/>
              </a:defRPr>
            </a:pPr>
            <a:r>
              <a:t>• Renegotiate outfitting contractor rates (WBS 1 &amp; 3)</a:t>
            </a:r>
          </a:p>
          <a:p>
            <a:pPr>
              <a:spcAft>
                <a:spcPts val="2000"/>
              </a:spcAft>
              <a:defRPr sz="3000">
                <a:solidFill>
                  <a:srgbClr val="555555"/>
                </a:solidFill>
                <a:latin typeface="Inter"/>
              </a:defRPr>
            </a:pPr>
            <a:r>
              <a:t>• Shift composite fabricators to outfitting to optimize</a:t>
            </a:r>
          </a:p>
          <a:p>
            <a:pPr>
              <a:spcAft>
                <a:spcPts val="2000"/>
              </a:spcAft>
              <a:defRPr sz="3000">
                <a:solidFill>
                  <a:srgbClr val="555555"/>
                </a:solidFill>
                <a:latin typeface="Inter"/>
              </a:defRPr>
            </a:pPr>
            <a:r>
              <a:t>• Enforce double-shift schedules to recover sea trials</a:t>
            </a:r>
          </a:p>
          <a:p>
            <a:pPr>
              <a:spcAft>
                <a:spcPts val="2000"/>
              </a:spcAft>
              <a:defRPr sz="3000">
                <a:solidFill>
                  <a:srgbClr val="555555"/>
                </a:solidFill>
                <a:latin typeface="Inter"/>
              </a:defRPr>
            </a:pPr>
            <a:r>
              <a:t>• Integrate DuckDB tracking into future estimations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