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252F"/>
                </a:solidFill>
                <a:latin typeface="Outfit"/>
              </a:defRPr>
            </a:pPr>
            <a:r>
              <a:t>Project Portfolio Executive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 b="1">
                <a:solidFill>
                  <a:srgbClr val="2C3E50"/>
                </a:solidFill>
                <a:latin typeface="Inter"/>
              </a:defRPr>
            </a:pPr>
            <a:r>
              <a:t>Q2 2026 Status Report | Frank Ellingsen</a:t>
            </a:r>
          </a:p>
          <a:p>
            <a:pPr>
              <a:spcAft>
                <a:spcPts val="14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Comprehensive status of 6 active &amp; completed projects</a:t>
            </a:r>
          </a:p>
          <a:p>
            <a:pPr>
              <a:spcAft>
                <a:spcPts val="14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EVM metrics overview &amp; financial audits</a:t>
            </a:r>
          </a:p>
          <a:p>
            <a:pPr>
              <a:spcAft>
                <a:spcPts val="14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Strategic recommendations &amp; corrective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252F"/>
                </a:solidFill>
                <a:latin typeface="Outfit"/>
              </a:defRPr>
            </a:pPr>
            <a:r>
              <a:t>1. Portfolio Overview &amp;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Total Baseline (BAC): 7,100,000 USD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Total Spent (AC): 5,220,810 USD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Earned Value (EV): 4,752,500 USD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Portfolio CPI: 0.91 (Muted cost overrun)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252F"/>
                </a:solidFill>
                <a:latin typeface="Outfit"/>
              </a:defRPr>
            </a:pPr>
            <a:r>
              <a:t>2. PRJ-001 Vessel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Status: Completed (99.5% progress)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Baseline: 1.5M USD | Actual Cost: 1.85M USD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CPI: 0.81 | Total Overrun: -356K USD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Action: Renegotiate contractor rates &amp; freeze 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252F"/>
                </a:solidFill>
                <a:latin typeface="Outfit"/>
              </a:defRPr>
            </a:pPr>
            <a:r>
              <a:t>3. PRJ-002 Patrol Vessel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Status: Planned (0% progress)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Baseline Budget: 800,000 USD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Planned Start: Aug 2026 | Finish: Dec 2026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Focus: Carbon mold design and CFD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252F"/>
                </a:solidFill>
                <a:latin typeface="Outfit"/>
              </a:defRPr>
            </a:pPr>
            <a:r>
              <a:t>4. PRJ-003 Subsea Cable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Status: Active (30% progress)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Baseline: 1.2M USD | Spent: 382.5K USD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CPI: 0.94 (Tracking close to budget)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Focus: Engineering complete, steel fabrication starting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252F"/>
                </a:solidFill>
                <a:latin typeface="Outfit"/>
              </a:defRPr>
            </a:pPr>
            <a:r>
              <a:t>5. PRJ-004 Workboat Hull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Status: Active (70% progress)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Baseline: 2.0M USD | Spent: 1.48M USD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CPI: 0.95 (Slight budget pressure)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Focus: Drawings approved, welding &amp; assembly ongoing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252F"/>
                </a:solidFill>
                <a:latin typeface="Outfit"/>
              </a:defRPr>
            </a:pPr>
            <a:r>
              <a:t>6. PRJ-005 Logistics Pontoon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Status: Active (90% progress)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Baseline: 1.0M USD | Spent: 927K USD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CPI: 0.97 (In good financial standing)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Project Manager: Frank Ellingsen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252F"/>
                </a:solidFill>
                <a:latin typeface="Outfit"/>
              </a:defRPr>
            </a:pPr>
            <a:r>
              <a:t>7. PRJ-006 Composite Cargo Hatch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Status: Completed (100% progress)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Baseline: 600,000 USD | Spent: 586,500 USD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CPI: 1.02 (Under budget success)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Deliverables: Molding &amp; testing fully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252F"/>
                </a:solidFill>
                <a:latin typeface="Outfit"/>
              </a:defRPr>
            </a:pPr>
            <a:r>
              <a:t>8. Key Portfolio Risks &amp; RAID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Risk: Carbon sheet delivery delay from supplier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Issue: Welder overtime limits exceeded in fabrication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Dependency: Sea trials depend on DNV class approval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Mitigation: Allocate junior welders to assist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252F"/>
                </a:solidFill>
                <a:latin typeface="Outfit"/>
              </a:defRPr>
            </a:pPr>
            <a:r>
              <a:t>9. 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Renegotiate outfitting contractor rates (WBS 1 &amp; 3)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Shift composite fabricators to outfitting to optimize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Enforce double-shift schedules to recover sea trials</a:t>
            </a:r>
          </a:p>
          <a:p>
            <a:pPr>
              <a:spcAft>
                <a:spcPts val="2000"/>
              </a:spcAft>
              <a:defRPr sz="3000">
                <a:solidFill>
                  <a:srgbClr val="555555"/>
                </a:solidFill>
                <a:latin typeface="Inter"/>
              </a:defRPr>
            </a:pPr>
            <a:r>
              <a:t>• Integrate DuckDB tracking into future estimations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