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Offset</c:v>
          </c:tx>
          <c:spPr>
            <a:solidFill>
              <a:srgbClr val="102A43"/>
            </a:solidFill>
            <a:ln w="0">
              <a:solidFill>
                <a:srgbClr val="102A43"/>
              </a:solidFill>
              <a:prstDash val="solid"/>
            </a:ln>
          </c:spPr>
          <c:invertIfNegative val="1"/>
          <c:cat>
            <c:strLit>
              <c:ptCount val="6"/>
              <c:pt idx="0">
                <c:v>PRJ-006  Cargo Hatch</c:v>
              </c:pt>
              <c:pt idx="1">
                <c:v>PRJ-005  Logistics Pontoon</c:v>
              </c:pt>
              <c:pt idx="2">
                <c:v>PRJ-004  Workboat Hull</c:v>
              </c:pt>
              <c:pt idx="3">
                <c:v>PRJ-003  Subsea Frame</c:v>
              </c:pt>
              <c:pt idx="4">
                <c:v>PRJ-002  Patrol Vessel</c:v>
              </c:pt>
              <c:pt idx="5">
                <c:v>PRJ-001  Composite Vessel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1.3</c:v>
              </c:pt>
              <c:pt idx="2">
                <c:v>1.65</c:v>
              </c:pt>
              <c:pt idx="3">
                <c:v>2.2999999999999998</c:v>
              </c:pt>
              <c:pt idx="4">
                <c:v>3.3</c:v>
              </c:pt>
              <c:pt idx="5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102A43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963-471E-AEC4-88E3669A1624}"/>
            </c:ext>
          </c:extLst>
        </c:ser>
        <c:ser>
          <c:idx val="1"/>
          <c:order val="1"/>
          <c:tx>
            <c:v>Schedule</c:v>
          </c:tx>
          <c:spPr>
            <a:solidFill>
              <a:srgbClr val="0B7A75"/>
            </a:solidFill>
            <a:ln w="0">
              <a:solidFill>
                <a:srgbClr val="0B7A75"/>
              </a:solidFill>
              <a:prstDash val="solid"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B7A75"/>
              </a:solidFill>
            </c:spPr>
            <c:extLst>
              <c:ext xmlns:c16="http://schemas.microsoft.com/office/drawing/2014/chart" uri="{C3380CC4-5D6E-409C-BE32-E72D297353CC}">
                <c16:uniqueId val="{00000002-E963-471E-AEC4-88E3669A1624}"/>
              </c:ext>
            </c:extLst>
          </c:dPt>
          <c:dPt>
            <c:idx val="1"/>
            <c:invertIfNegative val="1"/>
            <c:bubble3D val="0"/>
            <c:spPr>
              <a:solidFill>
                <a:srgbClr val="0B7A75"/>
              </a:solidFill>
            </c:spPr>
            <c:extLst>
              <c:ext xmlns:c16="http://schemas.microsoft.com/office/drawing/2014/chart" uri="{C3380CC4-5D6E-409C-BE32-E72D297353CC}">
                <c16:uniqueId val="{00000004-E963-471E-AEC4-88E3669A1624}"/>
              </c:ext>
            </c:extLst>
          </c:dPt>
          <c:dPt>
            <c:idx val="2"/>
            <c:invertIfNegative val="1"/>
            <c:bubble3D val="0"/>
            <c:spPr>
              <a:solidFill>
                <a:srgbClr val="0B7A75"/>
              </a:solidFill>
            </c:spPr>
            <c:extLst>
              <c:ext xmlns:c16="http://schemas.microsoft.com/office/drawing/2014/chart" uri="{C3380CC4-5D6E-409C-BE32-E72D297353CC}">
                <c16:uniqueId val="{00000006-E963-471E-AEC4-88E3669A1624}"/>
              </c:ext>
            </c:extLst>
          </c:dPt>
          <c:dPt>
            <c:idx val="3"/>
            <c:invertIfNegative val="1"/>
            <c:bubble3D val="0"/>
            <c:spPr>
              <a:solidFill>
                <a:srgbClr val="0B7A75"/>
              </a:solidFill>
            </c:spPr>
            <c:extLst>
              <c:ext xmlns:c16="http://schemas.microsoft.com/office/drawing/2014/chart" uri="{C3380CC4-5D6E-409C-BE32-E72D297353CC}">
                <c16:uniqueId val="{00000008-E963-471E-AEC4-88E3669A1624}"/>
              </c:ext>
            </c:extLst>
          </c:dPt>
          <c:dPt>
            <c:idx val="4"/>
            <c:invertIfNegative val="1"/>
            <c:bubble3D val="0"/>
            <c:spPr>
              <a:solidFill>
                <a:srgbClr val="0B7A75"/>
              </a:solidFill>
            </c:spPr>
            <c:extLst>
              <c:ext xmlns:c16="http://schemas.microsoft.com/office/drawing/2014/chart" uri="{C3380CC4-5D6E-409C-BE32-E72D297353CC}">
                <c16:uniqueId val="{0000000A-E963-471E-AEC4-88E3669A1624}"/>
              </c:ext>
            </c:extLst>
          </c:dPt>
          <c:dPt>
            <c:idx val="5"/>
            <c:invertIfNegative val="1"/>
            <c:bubble3D val="0"/>
            <c:spPr>
              <a:solidFill>
                <a:srgbClr val="D64545"/>
              </a:solidFill>
            </c:spPr>
            <c:extLst>
              <c:ext xmlns:c16="http://schemas.microsoft.com/office/drawing/2014/chart" uri="{C3380CC4-5D6E-409C-BE32-E72D297353CC}">
                <c16:uniqueId val="{0000000C-E963-471E-AEC4-88E3669A1624}"/>
              </c:ext>
            </c:extLst>
          </c:dPt>
          <c:cat>
            <c:strLit>
              <c:ptCount val="6"/>
              <c:pt idx="0">
                <c:v>PRJ-006  Cargo Hatch</c:v>
              </c:pt>
              <c:pt idx="1">
                <c:v>PRJ-005  Logistics Pontoon</c:v>
              </c:pt>
              <c:pt idx="2">
                <c:v>PRJ-004  Workboat Hull</c:v>
              </c:pt>
              <c:pt idx="3">
                <c:v>PRJ-003  Subsea Frame</c:v>
              </c:pt>
              <c:pt idx="4">
                <c:v>PRJ-002  Patrol Vessel</c:v>
              </c:pt>
              <c:pt idx="5">
                <c:v>PRJ-001  Composite Vessel</c:v>
              </c:pt>
            </c:strLit>
          </c:cat>
          <c:val>
            <c:numLit>
              <c:formatCode>General</c:formatCode>
              <c:ptCount val="6"/>
              <c:pt idx="0">
                <c:v>1.3</c:v>
              </c:pt>
              <c:pt idx="1">
                <c:v>1.95</c:v>
              </c:pt>
              <c:pt idx="2">
                <c:v>2</c:v>
              </c:pt>
              <c:pt idx="3">
                <c:v>2</c:v>
              </c:pt>
              <c:pt idx="4">
                <c:v>1.7</c:v>
              </c:pt>
              <c:pt idx="5">
                <c:v>1.9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0B7A75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D-E963-471E-AEC4-88E3669A16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nb-NO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nb-NO"/>
          </a:p>
        </c:txPr>
        <c:crossAx val="48650112"/>
        <c:crosses val="autoZero"/>
        <c:crossBetween val="between"/>
      </c:valAx>
      <c:spPr>
        <a:solidFill>
          <a:srgbClr val="102A43"/>
        </a:solidFill>
        <a:ln w="0">
          <a:solidFill>
            <a:srgbClr val="102A43"/>
          </a:solidFill>
          <a:prstDash val="solid"/>
        </a:ln>
      </c:spPr>
    </c:plotArea>
    <c:plotVisOnly val="1"/>
    <c:dispBlanksAs val="zero"/>
    <c:showDLblsOverMax val="1"/>
  </c:chart>
  <c:spPr>
    <a:solidFill>
      <a:srgbClr val="102A43"/>
    </a:solidFill>
    <a:ln w="0">
      <a:solidFill>
        <a:srgbClr val="102A43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USD millions</c:v>
          </c:tx>
          <c:spPr>
            <a:solidFill>
              <a:srgbClr val="0B7A75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163F-4506-AF16-3358F58E5721}"/>
              </c:ext>
            </c:extLst>
          </c:dPt>
          <c:dPt>
            <c:idx val="1"/>
            <c:invertIfNegative val="1"/>
            <c:bubble3D val="0"/>
            <c:spPr>
              <a:solidFill>
                <a:srgbClr val="F26B38"/>
              </a:solidFill>
            </c:spPr>
            <c:extLst>
              <c:ext xmlns:c16="http://schemas.microsoft.com/office/drawing/2014/chart" uri="{C3380CC4-5D6E-409C-BE32-E72D297353CC}">
                <c16:uniqueId val="{00000003-163F-4506-AF16-3358F58E5721}"/>
              </c:ext>
            </c:extLst>
          </c:dPt>
          <c:dPt>
            <c:idx val="2"/>
            <c:invertIfNegative val="1"/>
            <c:bubble3D val="0"/>
            <c:spPr>
              <a:solidFill>
                <a:srgbClr val="102A43"/>
              </a:solidFill>
            </c:spPr>
            <c:extLst>
              <c:ext xmlns:c16="http://schemas.microsoft.com/office/drawing/2014/chart" uri="{C3380CC4-5D6E-409C-BE32-E72D297353CC}">
                <c16:uniqueId val="{00000005-163F-4506-AF16-3358F58E5721}"/>
              </c:ext>
            </c:extLst>
          </c:dPt>
          <c:dLbls>
            <c:delete val="1"/>
          </c:dLbls>
          <c:cat>
            <c:strLit>
              <c:ptCount val="3"/>
              <c:pt idx="0">
                <c:v>Earned value</c:v>
              </c:pt>
              <c:pt idx="1">
                <c:v>Actual cost</c:v>
              </c:pt>
              <c:pt idx="2">
                <c:v>Baseline</c:v>
              </c:pt>
            </c:strLit>
          </c:cat>
          <c:val>
            <c:numLit>
              <c:formatCode>General</c:formatCode>
              <c:ptCount val="3"/>
              <c:pt idx="0">
                <c:v>4.7525000000000004</c:v>
              </c:pt>
              <c:pt idx="1">
                <c:v>5.2208100000000002</c:v>
              </c:pt>
              <c:pt idx="2">
                <c:v>7.1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63F-4506-AF16-3358F58E57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9D8D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C9D8D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486581"/>
                </a:solidFill>
              </a:defRPr>
            </a:pPr>
            <a:endParaRPr lang="nb-NO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102A43"/>
                </a:solidFill>
              </a:defRPr>
            </a:pPr>
            <a:endParaRPr lang="nb-NO"/>
          </a:p>
        </c:txPr>
        <c:crossAx val="48650112"/>
        <c:crosses val="autoZero"/>
        <c:crossBetween val="between"/>
      </c:valAx>
      <c:spPr>
        <a:solidFill>
          <a:srgbClr val="F4F8FA"/>
        </a:solidFill>
        <a:ln w="0">
          <a:solidFill>
            <a:srgbClr val="F4F8FA"/>
          </a:solidFill>
          <a:prstDash val="solid"/>
        </a:ln>
      </c:spPr>
    </c:plotArea>
    <c:plotVisOnly val="1"/>
    <c:dispBlanksAs val="zero"/>
    <c:showDLblsOverMax val="1"/>
  </c:chart>
  <c:spPr>
    <a:solidFill>
      <a:srgbClr val="F4F8FA"/>
    </a:solidFill>
    <a:ln w="0">
      <a:solidFill>
        <a:srgbClr val="F4F8FA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Progress</c:v>
          </c:tx>
          <c:dPt>
            <c:idx val="0"/>
            <c:bubble3D val="0"/>
            <c:spPr>
              <a:solidFill>
                <a:srgbClr val="D64545"/>
              </a:solidFill>
              <a:ln w="0">
                <a:solidFill>
                  <a:srgbClr val="D64545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EF8-4C3C-BD61-094A90618666}"/>
              </c:ext>
            </c:extLst>
          </c:dPt>
          <c:dPt>
            <c:idx val="1"/>
            <c:bubble3D val="0"/>
            <c:spPr>
              <a:solidFill>
                <a:srgbClr val="F4DADA"/>
              </a:solidFill>
              <a:ln w="0">
                <a:solidFill>
                  <a:srgbClr val="F4DAD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BEF8-4C3C-BD61-094A90618666}"/>
              </c:ext>
            </c:extLst>
          </c:dPt>
          <c:cat>
            <c:strLit>
              <c:ptCount val="2"/>
              <c:pt idx="0">
                <c:v>Complete</c:v>
              </c:pt>
              <c:pt idx="1">
                <c:v>Remaining</c:v>
              </c:pt>
            </c:strLit>
          </c:cat>
          <c:val>
            <c:numLit>
              <c:formatCode>General</c:formatCode>
              <c:ptCount val="2"/>
              <c:pt idx="0">
                <c:v>99.5</c:v>
              </c:pt>
              <c:pt idx="1">
                <c:v>0.5</c:v>
              </c:pt>
            </c:numLit>
          </c:val>
          <c:extLst>
            <c:ext xmlns:c16="http://schemas.microsoft.com/office/drawing/2014/chart" uri="{C3380CC4-5D6E-409C-BE32-E72D297353CC}">
              <c16:uniqueId val="{00000004-BEF8-4C3C-BD61-094A90618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6"/>
      </c:doughnutChart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Progress</c:v>
          </c:tx>
          <c:dPt>
            <c:idx val="0"/>
            <c:bubble3D val="0"/>
            <c:spPr>
              <a:solidFill>
                <a:srgbClr val="0B7A75"/>
              </a:solidFill>
              <a:ln w="0">
                <a:solidFill>
                  <a:srgbClr val="0B7A75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3E8-4F82-A25F-180B80ED5136}"/>
              </c:ext>
            </c:extLst>
          </c:dPt>
          <c:dPt>
            <c:idx val="1"/>
            <c:bubble3D val="0"/>
            <c:spPr>
              <a:solidFill>
                <a:srgbClr val="DDEFF2"/>
              </a:solidFill>
              <a:ln w="0">
                <a:solidFill>
                  <a:srgbClr val="DDEFF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B3E8-4F82-A25F-180B80ED5136}"/>
              </c:ext>
            </c:extLst>
          </c:dPt>
          <c:cat>
            <c:strLit>
              <c:ptCount val="2"/>
              <c:pt idx="0">
                <c:v>Complete</c:v>
              </c:pt>
              <c:pt idx="1">
                <c:v>Remaining</c:v>
              </c:pt>
            </c:strLit>
          </c:cat>
          <c:val>
            <c:numLit>
              <c:formatCode>General</c:formatCode>
              <c:ptCount val="2"/>
              <c:pt idx="0">
                <c:v>30</c:v>
              </c:pt>
              <c:pt idx="1">
                <c:v>70</c:v>
              </c:pt>
            </c:numLit>
          </c:val>
          <c:extLst>
            <c:ext xmlns:c16="http://schemas.microsoft.com/office/drawing/2014/chart" uri="{C3380CC4-5D6E-409C-BE32-E72D297353CC}">
              <c16:uniqueId val="{00000004-B3E8-4F82-A25F-180B80ED5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6"/>
      </c:doughnutChart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USD millions</c:v>
          </c:tx>
          <c:spPr>
            <a:solidFill>
              <a:srgbClr val="0B7A75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26B38"/>
              </a:solidFill>
            </c:spPr>
            <c:extLst>
              <c:ext xmlns:c16="http://schemas.microsoft.com/office/drawing/2014/chart" uri="{C3380CC4-5D6E-409C-BE32-E72D297353CC}">
                <c16:uniqueId val="{00000001-CBD3-4E61-A1FF-8910DA757CCD}"/>
              </c:ext>
            </c:extLst>
          </c:dPt>
          <c:dPt>
            <c:idx val="1"/>
            <c:invertIfNegative val="1"/>
            <c:bubble3D val="0"/>
            <c:spPr>
              <a:solidFill>
                <a:srgbClr val="102A43"/>
              </a:solidFill>
            </c:spPr>
            <c:extLst>
              <c:ext xmlns:c16="http://schemas.microsoft.com/office/drawing/2014/chart" uri="{C3380CC4-5D6E-409C-BE32-E72D297353CC}">
                <c16:uniqueId val="{00000003-CBD3-4E61-A1FF-8910DA757CCD}"/>
              </c:ext>
            </c:extLst>
          </c:dPt>
          <c:dLbls>
            <c:delete val="1"/>
          </c:dLbls>
          <c:cat>
            <c:strLit>
              <c:ptCount val="2"/>
              <c:pt idx="0">
                <c:v>Spent</c:v>
              </c:pt>
              <c:pt idx="1">
                <c:v>Baseline</c:v>
              </c:pt>
            </c:strLit>
          </c:cat>
          <c:val>
            <c:numLit>
              <c:formatCode>General</c:formatCode>
              <c:ptCount val="2"/>
              <c:pt idx="0">
                <c:v>1.48</c:v>
              </c:pt>
              <c:pt idx="1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CBD3-4E61-A1FF-8910DA757C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9D8D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C9D8D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486581"/>
                </a:solidFill>
              </a:defRPr>
            </a:pPr>
            <a:endParaRPr lang="nb-NO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102A43"/>
                </a:solidFill>
              </a:defRPr>
            </a:pPr>
            <a:endParaRPr lang="nb-NO"/>
          </a:p>
        </c:txPr>
        <c:crossAx val="48650112"/>
        <c:crosses val="autoZero"/>
        <c:crossBetween val="between"/>
      </c:valAx>
      <c:spPr>
        <a:solidFill>
          <a:srgbClr val="F4F8FA"/>
        </a:solidFill>
        <a:ln w="0">
          <a:solidFill>
            <a:srgbClr val="F4F8FA"/>
          </a:solidFill>
          <a:prstDash val="solid"/>
        </a:ln>
      </c:spPr>
    </c:plotArea>
    <c:plotVisOnly val="1"/>
    <c:dispBlanksAs val="zero"/>
    <c:showDLblsOverMax val="1"/>
  </c:chart>
  <c:spPr>
    <a:solidFill>
      <a:srgbClr val="F4F8FA"/>
    </a:solidFill>
    <a:ln w="0">
      <a:solidFill>
        <a:srgbClr val="F4F8FA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Progress</c:v>
          </c:tx>
          <c:dPt>
            <c:idx val="0"/>
            <c:bubble3D val="0"/>
            <c:spPr>
              <a:solidFill>
                <a:srgbClr val="0B7A75"/>
              </a:solidFill>
              <a:ln w="0">
                <a:solidFill>
                  <a:srgbClr val="0B7A75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3A4C-426B-A647-1BF9D2C87A62}"/>
              </c:ext>
            </c:extLst>
          </c:dPt>
          <c:dPt>
            <c:idx val="1"/>
            <c:bubble3D val="0"/>
            <c:spPr>
              <a:solidFill>
                <a:srgbClr val="DDEFF2"/>
              </a:solidFill>
              <a:ln w="0">
                <a:solidFill>
                  <a:srgbClr val="DDEFF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3A4C-426B-A647-1BF9D2C87A62}"/>
              </c:ext>
            </c:extLst>
          </c:dPt>
          <c:cat>
            <c:strLit>
              <c:ptCount val="2"/>
              <c:pt idx="0">
                <c:v>Complete</c:v>
              </c:pt>
              <c:pt idx="1">
                <c:v>Remaining</c:v>
              </c:pt>
            </c:strLit>
          </c:cat>
          <c:val>
            <c:numLit>
              <c:formatCode>General</c:formatCode>
              <c:ptCount val="2"/>
              <c:pt idx="0">
                <c:v>90</c:v>
              </c:pt>
              <c:pt idx="1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4-3A4C-426B-A647-1BF9D2C87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6"/>
      </c:doughnutChart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14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D40716C-DB82-43AE-AE61-40356F8AF3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35DDA9-9A74-47DF-BE30-B66866FDE44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Q2 2026  /  EXECUTIVE REVIEW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7ED33858-995D-49A7-9E22-5B170A19B07F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685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5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Project Portfolio</a:t>
            </a:r>
          </a:p>
          <a:p>
            <a:pPr algn="l">
              <a:lnSpc>
                <a:spcPct val="92000"/>
              </a:lnSpc>
              <a:buNone/>
              <a:defRPr sz="5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Executive Review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A5A6873-A405-4966-9826-8FD7C06F3193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0"/>
          </a:xfrm>
          <a:prstGeom prst="line">
            <a:avLst/>
          </a:prstGeom>
          <a:noFill/>
          <a:ln w="3810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87B22-6AA2-42C0-9231-C0B555A6F5BB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561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Six projects. One portfolio view.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Clear decisions on cost, schedule, and risk.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8ED27-5083-4385-8387-AFBB5F77D9B9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FRANK ELLINGSEN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3C389D-873C-414A-9415-20CFE4B3C1E4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Portfolio status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9AB78-4DD9-4EC1-8C52-9299EC8B6B28}"/>
              </a:ext>
            </a:extLst>
          </p:cNvPr>
          <p:cNvSpPr>
            <a:spLocks noGrp="1"/>
          </p:cNvSpPr>
          <p:nvPr/>
        </p:nvSpPr>
        <p:spPr>
          <a:xfrm>
            <a:off x="8172450" y="876300"/>
            <a:ext cx="285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0" b="1">
                <a:solidFill>
                  <a:srgbClr val="DDEFF2"/>
                </a:solidFill>
                <a:latin typeface="Aptos Display"/>
                <a:ea typeface="Aptos Display"/>
                <a:cs typeface="Aptos Display"/>
              </a:defRPr>
            </a:pPr>
            <a:r>
              <a:rPr sz="9000" b="1">
                <a:solidFill>
                  <a:srgbClr val="DDEFF2"/>
                </a:solidFill>
                <a:latin typeface="Aptos Display"/>
                <a:ea typeface="Aptos Display"/>
                <a:cs typeface="Aptos Display"/>
              </a:rPr>
              <a:t>Q2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B16D63-9DEE-4197-A46C-989B14CED9CB}"/>
              </a:ext>
            </a:extLst>
          </p:cNvPr>
          <p:cNvSpPr>
            <a:spLocks noGrp="1"/>
          </p:cNvSpPr>
          <p:nvPr/>
        </p:nvSpPr>
        <p:spPr>
          <a:xfrm>
            <a:off x="8763000" y="2266950"/>
            <a:ext cx="22669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65"/>
          </a:bodyPr>
          <a:lstStyle/>
          <a:p>
            <a:pPr algn="r">
              <a:lnSpc>
                <a:spcPct val="100000"/>
              </a:lnSpc>
              <a:buNone/>
              <a:defRPr sz="10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0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D70250A-BC81-41A0-996C-B7BF41E7514B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31051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E6B7020-32E8-433C-9089-247AF0F1E4B3}"/>
              </a:ext>
            </a:extLst>
          </p:cNvPr>
          <p:cNvSpPr>
            <a:spLocks noGrp="1"/>
          </p:cNvSpPr>
          <p:nvPr/>
        </p:nvSpPr>
        <p:spPr>
          <a:xfrm>
            <a:off x="8096250" y="4419600"/>
            <a:ext cx="0" cy="78105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06D70EF-6AB2-4015-82B3-015FE839CE31}"/>
              </a:ext>
            </a:extLst>
          </p:cNvPr>
          <p:cNvSpPr>
            <a:spLocks noGrp="1"/>
          </p:cNvSpPr>
          <p:nvPr/>
        </p:nvSpPr>
        <p:spPr>
          <a:xfrm>
            <a:off x="8591550" y="4419600"/>
            <a:ext cx="0" cy="78105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5333057-C623-4DB1-9D4D-2BF5782270FC}"/>
              </a:ext>
            </a:extLst>
          </p:cNvPr>
          <p:cNvSpPr>
            <a:spLocks noGrp="1"/>
          </p:cNvSpPr>
          <p:nvPr/>
        </p:nvSpPr>
        <p:spPr>
          <a:xfrm>
            <a:off x="9086850" y="4419600"/>
            <a:ext cx="0" cy="78105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664C85B-CF34-4CFB-96EC-22E001DC037C}"/>
              </a:ext>
            </a:extLst>
          </p:cNvPr>
          <p:cNvSpPr>
            <a:spLocks noGrp="1"/>
          </p:cNvSpPr>
          <p:nvPr/>
        </p:nvSpPr>
        <p:spPr>
          <a:xfrm>
            <a:off x="9582150" y="4419600"/>
            <a:ext cx="0" cy="78105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C9695C1-61DA-44A6-B3C2-A425A4ED1085}"/>
              </a:ext>
            </a:extLst>
          </p:cNvPr>
          <p:cNvSpPr>
            <a:spLocks noGrp="1"/>
          </p:cNvSpPr>
          <p:nvPr/>
        </p:nvSpPr>
        <p:spPr>
          <a:xfrm>
            <a:off x="10077450" y="4419600"/>
            <a:ext cx="0" cy="78105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6263444-FEA7-4851-9D23-D9741A32A2A1}"/>
              </a:ext>
            </a:extLst>
          </p:cNvPr>
          <p:cNvSpPr>
            <a:spLocks noGrp="1"/>
          </p:cNvSpPr>
          <p:nvPr/>
        </p:nvSpPr>
        <p:spPr>
          <a:xfrm>
            <a:off x="10572750" y="4419600"/>
            <a:ext cx="0" cy="781050"/>
          </a:xfrm>
          <a:prstGeom prst="line">
            <a:avLst/>
          </a:prstGeom>
          <a:noFill/>
          <a:ln w="28575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3780BF-C245-4EEA-A712-4B539465D254}"/>
              </a:ext>
            </a:extLst>
          </p:cNvPr>
          <p:cNvSpPr>
            <a:spLocks noGrp="1"/>
          </p:cNvSpPr>
          <p:nvPr/>
        </p:nvSpPr>
        <p:spPr>
          <a:xfrm>
            <a:off x="8096250" y="5353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PORTFOLIO WINDOW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CF62E4-D1C2-4772-818A-390B0C7BF287}"/>
              </a:ext>
            </a:extLst>
          </p:cNvPr>
          <p:cNvSpPr>
            <a:spLocks noGrp="1"/>
          </p:cNvSpPr>
          <p:nvPr/>
        </p:nvSpPr>
        <p:spPr>
          <a:xfrm>
            <a:off x="8096250" y="5591175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Q4 2025 — Q4 2026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97520C-BEDD-4D14-9F03-54CB96FA4A9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6B82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8294"/>
                </a:solidFill>
                <a:latin typeface="Aptos"/>
                <a:ea typeface="Aptos"/>
                <a:cs typeface="Aptos"/>
              </a:rPr>
              <a:t>Internal management review</a:t>
            </a:r>
          </a:p>
        </p:txBody>
      </p:sp>
    </p:spTree>
    <p:extLst>
      <p:ext uri="{BB962C8B-B14F-4D97-AF65-F5344CB8AC3E}">
        <p14:creationId xmlns:p14="http://schemas.microsoft.com/office/powerpoint/2010/main" val="1006363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FFB7C20-230D-46FB-B40B-0CD041B50AD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PORTFOLIO SCHEDULE</a:t>
            </a:r>
          </a:p>
        </p:txBody>
      </p:sp>
      <p:sp>
        <p:nvSpPr>
          <p:cNvPr id="2" name="slide-2-title">
            <a:extLst>
              <a:ext uri="{FF2B5EF4-FFF2-40B4-BE49-F238E27FC236}">
                <a16:creationId xmlns:a16="http://schemas.microsoft.com/office/drawing/2014/main" id="{853527B8-EE65-4B61-8F78-3589DEA013F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Six projects span Q4 2025–Q4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30EB6-7CD1-476E-B819-45095068FEC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6557A15-FD8F-4BEB-BE64-F19D826393A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E771C-3345-4A77-ABA8-10E2AE465A19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rPr>
              <a:t>SCHEDULE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874C3C-F55E-49D3-8E5C-B4716416BC3B}"/>
              </a:ext>
            </a:extLst>
          </p:cNvPr>
          <p:cNvSpPr>
            <a:spLocks noGrp="1"/>
          </p:cNvSpPr>
          <p:nvPr/>
        </p:nvSpPr>
        <p:spPr>
          <a:xfrm>
            <a:off x="9906000" y="1562100"/>
            <a:ext cx="1600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rPr>
              <a:t>STATUS / COMPLETE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B9A7A6-7364-4AD4-90E2-223B930B6F03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rPr>
              <a:t>Q4 2025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2CFB143-41F2-4172-9451-14EE65CB2923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0" cy="37147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C38B89-FA0A-43B0-8631-7110816332D0}"/>
              </a:ext>
            </a:extLst>
          </p:cNvPr>
          <p:cNvSpPr>
            <a:spLocks noGrp="1"/>
          </p:cNvSpPr>
          <p:nvPr/>
        </p:nvSpPr>
        <p:spPr>
          <a:xfrm>
            <a:off x="4572000" y="16954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rPr>
              <a:t>Q1 2026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1CB089B-59A5-4F44-9DD2-3AA212B47AB9}"/>
              </a:ext>
            </a:extLst>
          </p:cNvPr>
          <p:cNvSpPr>
            <a:spLocks noGrp="1"/>
          </p:cNvSpPr>
          <p:nvPr/>
        </p:nvSpPr>
        <p:spPr>
          <a:xfrm>
            <a:off x="4572000" y="1924050"/>
            <a:ext cx="0" cy="37147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17A71-498E-4C60-96A1-666C8C47A85B}"/>
              </a:ext>
            </a:extLst>
          </p:cNvPr>
          <p:cNvSpPr>
            <a:spLocks noGrp="1"/>
          </p:cNvSpPr>
          <p:nvPr/>
        </p:nvSpPr>
        <p:spPr>
          <a:xfrm>
            <a:off x="5810250" y="16954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Q2 2026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0118850-6B22-488D-A1A7-21A4213AB8F8}"/>
              </a:ext>
            </a:extLst>
          </p:cNvPr>
          <p:cNvSpPr>
            <a:spLocks noGrp="1"/>
          </p:cNvSpPr>
          <p:nvPr/>
        </p:nvSpPr>
        <p:spPr>
          <a:xfrm>
            <a:off x="5810250" y="1924050"/>
            <a:ext cx="0" cy="37147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5FA22-CF97-41E1-BCDB-664AA156A10F}"/>
              </a:ext>
            </a:extLst>
          </p:cNvPr>
          <p:cNvSpPr>
            <a:spLocks noGrp="1"/>
          </p:cNvSpPr>
          <p:nvPr/>
        </p:nvSpPr>
        <p:spPr>
          <a:xfrm>
            <a:off x="7048500" y="16954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rPr>
              <a:t>Q3 2026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D9F4BCE-0B6A-47A1-A7F5-6FD1F96FC13E}"/>
              </a:ext>
            </a:extLst>
          </p:cNvPr>
          <p:cNvSpPr>
            <a:spLocks noGrp="1"/>
          </p:cNvSpPr>
          <p:nvPr/>
        </p:nvSpPr>
        <p:spPr>
          <a:xfrm>
            <a:off x="7048500" y="1924050"/>
            <a:ext cx="0" cy="37147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DEE5A0-2B30-4D66-803D-630987EDB32C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C4D5DD"/>
                </a:solidFill>
                <a:latin typeface="Aptos Display"/>
                <a:ea typeface="Aptos Display"/>
                <a:cs typeface="Aptos Display"/>
              </a:rPr>
              <a:t>Q4 2026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832F5BF-0A03-4EA7-B88A-2F2A8F441144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0" cy="37147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0A02592-A502-4CF6-BE6B-F0DA96F658B7}"/>
              </a:ext>
            </a:extLst>
          </p:cNvPr>
          <p:cNvSpPr>
            <a:spLocks noGrp="1"/>
          </p:cNvSpPr>
          <p:nvPr/>
        </p:nvSpPr>
        <p:spPr>
          <a:xfrm>
            <a:off x="9525000" y="1924050"/>
            <a:ext cx="0" cy="37147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18" name="Chart"/>
          <p:cNvGraphicFramePr/>
          <p:nvPr/>
        </p:nvGraphicFramePr>
        <p:xfrm>
          <a:off x="3238500" y="1924050"/>
          <a:ext cx="6381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DBE701EC-358C-45CB-A727-E60B6305396C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PRJ-001  Composite vessel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38BBF-9E1B-43ED-9A0C-D414668038EA}"/>
              </a:ext>
            </a:extLst>
          </p:cNvPr>
          <p:cNvSpPr>
            <a:spLocks noGrp="1"/>
          </p:cNvSpPr>
          <p:nvPr/>
        </p:nvSpPr>
        <p:spPr>
          <a:xfrm>
            <a:off x="9906000" y="23050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99.5%  CRITICAL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08B98-B388-4622-B56D-A1C76B373FC7}"/>
              </a:ext>
            </a:extLst>
          </p:cNvPr>
          <p:cNvSpPr>
            <a:spLocks noGrp="1"/>
          </p:cNvSpPr>
          <p:nvPr/>
        </p:nvSpPr>
        <p:spPr>
          <a:xfrm>
            <a:off x="685800" y="283083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PRJ-002  Patrol vessel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8D6AEA-2234-4733-9D01-F6B3AF60FE1D}"/>
              </a:ext>
            </a:extLst>
          </p:cNvPr>
          <p:cNvSpPr>
            <a:spLocks noGrp="1"/>
          </p:cNvSpPr>
          <p:nvPr/>
        </p:nvSpPr>
        <p:spPr>
          <a:xfrm>
            <a:off x="9906000" y="283083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9EC9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EC9C8"/>
                </a:solidFill>
                <a:latin typeface="Aptos Display"/>
                <a:ea typeface="Aptos Display"/>
                <a:cs typeface="Aptos Display"/>
              </a:rPr>
              <a:t>0%  PLANNED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2F85A9-D8D0-41BF-9A0A-34BC3B545BB0}"/>
              </a:ext>
            </a:extLst>
          </p:cNvPr>
          <p:cNvSpPr>
            <a:spLocks noGrp="1"/>
          </p:cNvSpPr>
          <p:nvPr/>
        </p:nvSpPr>
        <p:spPr>
          <a:xfrm>
            <a:off x="685800" y="335661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PRJ-003  Subsea frame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6FAE45-00F9-41B5-9276-DB0EB08EA955}"/>
              </a:ext>
            </a:extLst>
          </p:cNvPr>
          <p:cNvSpPr>
            <a:spLocks noGrp="1"/>
          </p:cNvSpPr>
          <p:nvPr/>
        </p:nvSpPr>
        <p:spPr>
          <a:xfrm>
            <a:off x="9906000" y="335661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30%  ON TRACK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E6EA7-D4E7-468F-B379-0825D8BC9A0F}"/>
              </a:ext>
            </a:extLst>
          </p:cNvPr>
          <p:cNvSpPr>
            <a:spLocks noGrp="1"/>
          </p:cNvSpPr>
          <p:nvPr/>
        </p:nvSpPr>
        <p:spPr>
          <a:xfrm>
            <a:off x="685800" y="388239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PRJ-004  Workboat hull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CE6FB6-C4C4-4482-B357-BD7C7473BF7D}"/>
              </a:ext>
            </a:extLst>
          </p:cNvPr>
          <p:cNvSpPr>
            <a:spLocks noGrp="1"/>
          </p:cNvSpPr>
          <p:nvPr/>
        </p:nvSpPr>
        <p:spPr>
          <a:xfrm>
            <a:off x="9906000" y="388239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70%  ON TRACK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F6AFF9-7980-4D4A-9ACF-69106C1FB086}"/>
              </a:ext>
            </a:extLst>
          </p:cNvPr>
          <p:cNvSpPr>
            <a:spLocks noGrp="1"/>
          </p:cNvSpPr>
          <p:nvPr/>
        </p:nvSpPr>
        <p:spPr>
          <a:xfrm>
            <a:off x="685800" y="440817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PRJ-005  Logistics pontoon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797B08-B1A3-4F2A-AE4A-3C8E5C470289}"/>
              </a:ext>
            </a:extLst>
          </p:cNvPr>
          <p:cNvSpPr>
            <a:spLocks noGrp="1"/>
          </p:cNvSpPr>
          <p:nvPr/>
        </p:nvSpPr>
        <p:spPr>
          <a:xfrm>
            <a:off x="9906000" y="440817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90%  ON TRACK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3CF2FA-2F48-4E4C-BC53-6A2051764AF1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PRJ-006  Cargo hatch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C9D804-3E9D-46B6-A351-19A055221F76}"/>
              </a:ext>
            </a:extLst>
          </p:cNvPr>
          <p:cNvSpPr>
            <a:spLocks noGrp="1"/>
          </p:cNvSpPr>
          <p:nvPr/>
        </p:nvSpPr>
        <p:spPr>
          <a:xfrm>
            <a:off x="9906000" y="49339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100%  COMPLETE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028CE1C4-B630-430E-B6A2-7E49236BED77}"/>
              </a:ext>
            </a:extLst>
          </p:cNvPr>
          <p:cNvSpPr>
            <a:spLocks noGrp="1"/>
          </p:cNvSpPr>
          <p:nvPr/>
        </p:nvSpPr>
        <p:spPr>
          <a:xfrm>
            <a:off x="6429375" y="1885950"/>
            <a:ext cx="0" cy="3829050"/>
          </a:xfrm>
          <a:prstGeom prst="line">
            <a:avLst/>
          </a:prstGeom>
          <a:noFill/>
          <a:ln w="19050">
            <a:solidFill>
              <a:srgbClr val="F26B38"/>
            </a:solidFill>
            <a:prstDash val="dash"/>
          </a:ln>
        </p:spPr>
        <p:txBody>
          <a:bodyPr/>
          <a:lstStyle/>
          <a:p>
            <a:endParaRPr lang="nb-NO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0AB863-7BF9-4C86-9B92-F72524F9787B}"/>
              </a:ext>
            </a:extLst>
          </p:cNvPr>
          <p:cNvSpPr>
            <a:spLocks noGrp="1"/>
          </p:cNvSpPr>
          <p:nvPr/>
        </p:nvSpPr>
        <p:spPr>
          <a:xfrm>
            <a:off x="6067425" y="57721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7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Q2 REVIEW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6FAB29D1-F11A-4F9B-8774-5F2ADBC0451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DDF522-2EC5-4F0E-9250-165D60DF087A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5F66DD-15A9-41DC-AA4D-8E9D87FF827C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839119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5A0DF58-327E-40C9-812B-757942CF5CA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PORTFOLIO HEALTH</a:t>
            </a:r>
          </a:p>
        </p:txBody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1E4015C9-C683-40DB-856D-0BAF275B6B7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Portfolio earns $0.91 per $1 spent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19C18-7CC4-462A-8676-7D9FD8BF57D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5A14FB6-E55E-4BCE-A8D2-3CD96D3CE5D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FD5B9-A374-4E71-8ABF-B8A317A857CC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PORTFOLIO CPI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9B30B-8CF9-458D-BFE5-43FFBEDEEB91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0.91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F4BA27-7BA2-47C7-9067-530307C10DF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Muted cost overrun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088B1-719A-43C7-98E0-5B0D4F22592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Earned value trails actual cost by $468K.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BE172A3-D322-4A32-875F-7D54338B3756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27813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C26174-9005-44D9-B7A1-0DF39D521EC0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PROJECT MIX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5C5F7-BF48-4A1D-BFBF-B71A70C5D7A7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42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3 active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D0A0D-4B4E-4ADD-B33D-6B5EA88E4050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2 completed  ·  1 planned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3886200" y="1809750"/>
          <a:ext cx="762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BBFE459-0F3C-42A4-A1CB-3D78C6009866}"/>
              </a:ext>
            </a:extLst>
          </p:cNvPr>
          <p:cNvSpPr>
            <a:spLocks noGrp="1"/>
          </p:cNvSpPr>
          <p:nvPr/>
        </p:nvSpPr>
        <p:spPr>
          <a:xfrm>
            <a:off x="10001250" y="52387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USD MILLIONS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829B53-B5F7-4AD7-A01B-BB5DB6708047}"/>
              </a:ext>
            </a:extLst>
          </p:cNvPr>
          <p:cNvSpPr>
            <a:spLocks noGrp="1"/>
          </p:cNvSpPr>
          <p:nvPr/>
        </p:nvSpPr>
        <p:spPr>
          <a:xfrm>
            <a:off x="3886200" y="5572125"/>
            <a:ext cx="76200" cy="47625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3D483-B81E-41CA-A517-DF4A4011F3DB}"/>
              </a:ext>
            </a:extLst>
          </p:cNvPr>
          <p:cNvSpPr>
            <a:spLocks noGrp="1"/>
          </p:cNvSpPr>
          <p:nvPr/>
        </p:nvSpPr>
        <p:spPr>
          <a:xfrm>
            <a:off x="4114800" y="558165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Cost control should focus on PRJ-001; the remaining portfolio is broadly stable.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E7AF70A-664E-4B72-BFC8-54327CAC850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953E83-E011-4D1C-B263-7CF295731C27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FDFBFA-CF8D-4787-A5F2-2C9F7CD4DDBC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83234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7E4C7BF-68E8-4D25-9B9C-78D790E7BC9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PRJ-001  ·  VESSEL CONSTRUCTION</a:t>
            </a:r>
          </a:p>
        </p:txBody>
      </p:sp>
      <p:sp>
        <p:nvSpPr>
          <p:cNvPr id="2" name="slide-4-title">
            <a:extLst>
              <a:ext uri="{FF2B5EF4-FFF2-40B4-BE49-F238E27FC236}">
                <a16:creationId xmlns:a16="http://schemas.microsoft.com/office/drawing/2014/main" id="{6FE22A7D-6406-4741-A5D6-6D8E163D8EF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63"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PRJ-001 overrun requires a contractor reset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DB5BD-AEDF-49F1-8BC8-C85C0610759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D77D12-C7D4-4542-9E07-5878363BD537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AD6052-575C-4F5E-97E8-42107528427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5250" cy="95250"/>
          </a:xfrm>
          <a:prstGeom prst="rect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AE3FA-94D0-4701-A441-97360157A3BD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CRITICAL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B00B8-5BEC-4C74-844E-18F7678AACE0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ACTUAL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C8E29-B55D-4DAD-9EA7-38B8ED1DFA92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5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$1.85M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383D73-4E3A-4F0F-9961-8F684A57C57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vs. $1.50M baseline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3AC6842-04BE-48C2-9978-E3FA04B578D7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28575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29DFC2-0655-4CB8-ADD7-B466AE67288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COST PERFORMANCE INDEX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09B7E1-DEBE-4327-B903-E4772CD18579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5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0.81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FF62C-F7F0-4D47-8F98-3C0B2E82CC7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Value delivery is below plan.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7334250" y="1885950"/>
          <a:ext cx="25717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780EBA4-6FFD-4DA6-A241-0F489278AB7B}"/>
              </a:ext>
            </a:extLst>
          </p:cNvPr>
          <p:cNvSpPr>
            <a:spLocks noGrp="1"/>
          </p:cNvSpPr>
          <p:nvPr/>
        </p:nvSpPr>
        <p:spPr>
          <a:xfrm>
            <a:off x="7797165" y="2837498"/>
            <a:ext cx="1645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99.5%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E24375-0FB0-4761-9419-2F72A22F7E50}"/>
              </a:ext>
            </a:extLst>
          </p:cNvPr>
          <p:cNvSpPr>
            <a:spLocks noGrp="1"/>
          </p:cNvSpPr>
          <p:nvPr/>
        </p:nvSpPr>
        <p:spPr>
          <a:xfrm>
            <a:off x="7951470" y="3326130"/>
            <a:ext cx="13373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COMPLETE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40ECC1-D5E1-4246-9A0F-AECD4BB81B0B}"/>
              </a:ext>
            </a:extLst>
          </p:cNvPr>
          <p:cNvSpPr>
            <a:spLocks noGrp="1"/>
          </p:cNvSpPr>
          <p:nvPr/>
        </p:nvSpPr>
        <p:spPr>
          <a:xfrm>
            <a:off x="10077450" y="23812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2E0053-FCB7-47A0-9EF0-C5742F6D63D9}"/>
              </a:ext>
            </a:extLst>
          </p:cNvPr>
          <p:cNvSpPr>
            <a:spLocks noGrp="1"/>
          </p:cNvSpPr>
          <p:nvPr/>
        </p:nvSpPr>
        <p:spPr>
          <a:xfrm>
            <a:off x="9715500" y="26479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Cost exception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20F92FC-C70B-4603-AD11-49B2AB658B69}"/>
              </a:ext>
            </a:extLst>
          </p:cNvPr>
          <p:cNvSpPr>
            <a:spLocks noGrp="1"/>
          </p:cNvSpPr>
          <p:nvPr/>
        </p:nvSpPr>
        <p:spPr>
          <a:xfrm>
            <a:off x="10077450" y="3048000"/>
            <a:ext cx="14287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F92896-FDAA-4F14-B13E-3810ABB712CF}"/>
              </a:ext>
            </a:extLst>
          </p:cNvPr>
          <p:cNvSpPr>
            <a:spLocks noGrp="1"/>
          </p:cNvSpPr>
          <p:nvPr/>
        </p:nvSpPr>
        <p:spPr>
          <a:xfrm>
            <a:off x="10077450" y="32766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Total overrun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2652A0-C615-4046-9997-5D993F4E57A0}"/>
              </a:ext>
            </a:extLst>
          </p:cNvPr>
          <p:cNvSpPr>
            <a:spLocks noGrp="1"/>
          </p:cNvSpPr>
          <p:nvPr/>
        </p:nvSpPr>
        <p:spPr>
          <a:xfrm>
            <a:off x="10077450" y="354330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25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−$356K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47B6FE-A9BF-4AD2-A6C4-6F2D23B611FA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76200" cy="552450"/>
          </a:xfrm>
          <a:prstGeom prst="rect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0AC0D-6B78-4BBF-BA83-CBCA70C60C43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IMMEDIATE 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7CE00B-038A-401E-9C9D-B55AA1373AF9}"/>
              </a:ext>
            </a:extLst>
          </p:cNvPr>
          <p:cNvSpPr>
            <a:spLocks noGrp="1"/>
          </p:cNvSpPr>
          <p:nvPr/>
        </p:nvSpPr>
        <p:spPr>
          <a:xfrm>
            <a:off x="933450" y="5791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Renegotiate contractor rates and freeze variation orders.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59D3EEA-0A95-4305-BF7A-3787CE826BE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6C1304-A30F-4E85-B5D5-DF7F892428AB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32AD21-9E34-4B3C-86DA-A9164F1FA1F4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115559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8882114-CBC2-4B74-BFD9-70E75276359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PRJ-002  ·  PATROL VESSEL DESIGN</a:t>
            </a:r>
          </a:p>
        </p:txBody>
      </p:sp>
      <p:sp>
        <p:nvSpPr>
          <p:cNvPr id="2" name="slide-5-title">
            <a:extLst>
              <a:ext uri="{FF2B5EF4-FFF2-40B4-BE49-F238E27FC236}">
                <a16:creationId xmlns:a16="http://schemas.microsoft.com/office/drawing/2014/main" id="{B78FFF2A-C4AB-47A5-89F1-FB18CC7DD09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PRJ-002 is budgeted for August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4D8A2F-89A5-45AB-877E-CDCA0527A589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51D8FB2-BBB7-491C-8946-FC3D9715147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13078-91C3-43DC-BE0B-307356A2337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5250" cy="95250"/>
          </a:xfrm>
          <a:prstGeom prst="rect">
            <a:avLst/>
          </a:prstGeom>
          <a:solidFill>
            <a:srgbClr val="2A9D6F"/>
          </a:solidFill>
          <a:ln w="0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3099B-F596-492D-B277-9EC22527E881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PLANNED / ON 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C59FE9-84C5-41C8-AF44-6EBD2D01A97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 lnSpcReduction="10000"/>
          </a:bodyPr>
          <a:lstStyle/>
          <a:p>
            <a:pPr algn="l">
              <a:lnSpc>
                <a:spcPct val="100000"/>
              </a:lnSpc>
              <a:buNone/>
              <a:defRPr sz="6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10401-7325-497D-B61F-3E1FF80D84A3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56DD1-2BAE-4ED8-9C99-198B7725DD74}"/>
              </a:ext>
            </a:extLst>
          </p:cNvPr>
          <p:cNvSpPr>
            <a:spLocks noGrp="1"/>
          </p:cNvSpPr>
          <p:nvPr/>
        </p:nvSpPr>
        <p:spPr>
          <a:xfrm>
            <a:off x="3429000" y="21145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BASELINE BUDGET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30DFA6-F563-4036-9D60-3125C1773E6F}"/>
              </a:ext>
            </a:extLst>
          </p:cNvPr>
          <p:cNvSpPr>
            <a:spLocks noGrp="1"/>
          </p:cNvSpPr>
          <p:nvPr/>
        </p:nvSpPr>
        <p:spPr>
          <a:xfrm>
            <a:off x="3429000" y="23431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7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$800K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DF1602A-9F76-45E2-9D3B-B766A7A7B50A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DD71B-F2DF-40BD-A3FA-C4B6625676E1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AUG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7F3C08-4B3F-4707-B8BD-DA380F92A0D0}"/>
              </a:ext>
            </a:extLst>
          </p:cNvPr>
          <p:cNvSpPr>
            <a:spLocks noGrp="1"/>
          </p:cNvSpPr>
          <p:nvPr/>
        </p:nvSpPr>
        <p:spPr>
          <a:xfrm>
            <a:off x="9982200" y="407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DEC 2026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57F9A36-F4B1-4F59-B7E4-DB27092554E2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10820400" cy="0"/>
          </a:xfrm>
          <a:prstGeom prst="line">
            <a:avLst/>
          </a:prstGeom>
          <a:noFill/>
          <a:ln w="38100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2965B4-AA6E-4F13-801E-58DC6ABCB03C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52400" cy="15240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1E669-A7CA-4DD6-9728-4B4030841C7F}"/>
              </a:ext>
            </a:extLst>
          </p:cNvPr>
          <p:cNvSpPr>
            <a:spLocks noGrp="1"/>
          </p:cNvSpPr>
          <p:nvPr/>
        </p:nvSpPr>
        <p:spPr>
          <a:xfrm>
            <a:off x="11353800" y="4572000"/>
            <a:ext cx="152400" cy="152400"/>
          </a:xfrm>
          <a:prstGeom prst="rect">
            <a:avLst/>
          </a:prstGeom>
          <a:solidFill>
            <a:srgbClr val="0B7A75"/>
          </a:solidFill>
          <a:ln w="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BE85AE5-3FEC-4E21-B5D0-D48A2042887B}"/>
              </a:ext>
            </a:extLst>
          </p:cNvPr>
          <p:cNvSpPr>
            <a:spLocks noGrp="1"/>
          </p:cNvSpPr>
          <p:nvPr/>
        </p:nvSpPr>
        <p:spPr>
          <a:xfrm>
            <a:off x="2849880" y="4533900"/>
            <a:ext cx="0" cy="22860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6A5C175-AEA2-4178-85B0-48E6A1B1310A}"/>
              </a:ext>
            </a:extLst>
          </p:cNvPr>
          <p:cNvSpPr>
            <a:spLocks noGrp="1"/>
          </p:cNvSpPr>
          <p:nvPr/>
        </p:nvSpPr>
        <p:spPr>
          <a:xfrm>
            <a:off x="5013960" y="4533900"/>
            <a:ext cx="0" cy="22860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6B8E8C6B-5B30-4A16-AA78-67EEF94DBC8A}"/>
              </a:ext>
            </a:extLst>
          </p:cNvPr>
          <p:cNvSpPr>
            <a:spLocks noGrp="1"/>
          </p:cNvSpPr>
          <p:nvPr/>
        </p:nvSpPr>
        <p:spPr>
          <a:xfrm>
            <a:off x="7178040" y="4533900"/>
            <a:ext cx="0" cy="22860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DE00B5B-243B-4129-9B54-B1742963CF3D}"/>
              </a:ext>
            </a:extLst>
          </p:cNvPr>
          <p:cNvSpPr>
            <a:spLocks noGrp="1"/>
          </p:cNvSpPr>
          <p:nvPr/>
        </p:nvSpPr>
        <p:spPr>
          <a:xfrm>
            <a:off x="9342120" y="4533900"/>
            <a:ext cx="0" cy="22860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793196-A779-49AD-A0ED-1E40CA368BB2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PLANNED START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09A984-9D3B-434C-A55C-9EE831A1559A}"/>
              </a:ext>
            </a:extLst>
          </p:cNvPr>
          <p:cNvSpPr>
            <a:spLocks noGrp="1"/>
          </p:cNvSpPr>
          <p:nvPr/>
        </p:nvSpPr>
        <p:spPr>
          <a:xfrm>
            <a:off x="9791700" y="4876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PLANNED FINISH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2712CD-D37C-4FB9-8E40-F6AD141D169D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76200" cy="55245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A76865-25C2-4D32-8710-9A4F97224869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DESIGN FOCUS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371EB-F079-4E0E-9830-49ADD47BC2CE}"/>
              </a:ext>
            </a:extLst>
          </p:cNvPr>
          <p:cNvSpPr>
            <a:spLocks noGrp="1"/>
          </p:cNvSpPr>
          <p:nvPr/>
        </p:nvSpPr>
        <p:spPr>
          <a:xfrm>
            <a:off x="933450" y="5791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Carbon mold design and CFD analysis.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B3F3F6A-4C08-46A5-B137-B9E25EFABB2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025C4A-5BCD-4F98-BAAA-6D122F920162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341C82-94F5-4712-BEDE-FF6C02C2A4D9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66172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FA58C81-F44B-45BA-AF5C-CB3120E711B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PRJ-003  ·  SUBSEA FRAME</a:t>
            </a:r>
          </a:p>
        </p:txBody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975B393F-A69D-4082-BCA9-E84510541F13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080"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PRJ-003 is 30% complete with CPI at 0.94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A5494-5556-4D59-BDF3-4369B2D86F20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6C1605-2772-4ED0-9261-9C06801AC6F6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2AFEB-A676-4959-A70B-400BB560020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5250" cy="95250"/>
          </a:xfrm>
          <a:prstGeom prst="rect">
            <a:avLst/>
          </a:prstGeom>
          <a:solidFill>
            <a:srgbClr val="2A9D6F"/>
          </a:solidFill>
          <a:ln w="0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5270C4-FE66-4AE5-AE97-0CF4641EC8E3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ACTIVE / ON TRACK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781050" y="2095500"/>
          <a:ext cx="24765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604EFB8-97DF-4266-836E-4615EFE34DE0}"/>
              </a:ext>
            </a:extLst>
          </p:cNvPr>
          <p:cNvSpPr>
            <a:spLocks noGrp="1"/>
          </p:cNvSpPr>
          <p:nvPr/>
        </p:nvSpPr>
        <p:spPr>
          <a:xfrm>
            <a:off x="1226820" y="3011805"/>
            <a:ext cx="158496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30%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67283-8FC5-4B39-9CE8-EAF40A4B12BB}"/>
              </a:ext>
            </a:extLst>
          </p:cNvPr>
          <p:cNvSpPr>
            <a:spLocks noGrp="1"/>
          </p:cNvSpPr>
          <p:nvPr/>
        </p:nvSpPr>
        <p:spPr>
          <a:xfrm>
            <a:off x="1375410" y="3482340"/>
            <a:ext cx="12877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COMPLETE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7942DC-4955-4DE7-B601-83EB21120D4E}"/>
              </a:ext>
            </a:extLst>
          </p:cNvPr>
          <p:cNvSpPr>
            <a:spLocks noGrp="1"/>
          </p:cNvSpPr>
          <p:nvPr/>
        </p:nvSpPr>
        <p:spPr>
          <a:xfrm>
            <a:off x="4229100" y="21907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90AF3-7BE2-4320-823F-41842EB1D753}"/>
              </a:ext>
            </a:extLst>
          </p:cNvPr>
          <p:cNvSpPr>
            <a:spLocks noGrp="1"/>
          </p:cNvSpPr>
          <p:nvPr/>
        </p:nvSpPr>
        <p:spPr>
          <a:xfrm>
            <a:off x="4229100" y="24193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$1.20M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06B14-5614-42BF-9F18-F0AAD2B00549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SPENT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ED499D-241A-45BC-BBE8-9D63B19F3428}"/>
              </a:ext>
            </a:extLst>
          </p:cNvPr>
          <p:cNvSpPr>
            <a:spLocks noGrp="1"/>
          </p:cNvSpPr>
          <p:nvPr/>
        </p:nvSpPr>
        <p:spPr>
          <a:xfrm>
            <a:off x="6953250" y="24193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$382.5K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255A3B-DF1D-400B-9683-4B667422F974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56E66C-674B-47CB-92B3-A2440D14A1BB}"/>
              </a:ext>
            </a:extLst>
          </p:cNvPr>
          <p:cNvSpPr>
            <a:spLocks noGrp="1"/>
          </p:cNvSpPr>
          <p:nvPr/>
        </p:nvSpPr>
        <p:spPr>
          <a:xfrm>
            <a:off x="9620250" y="2419350"/>
            <a:ext cx="161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0.94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ED6D381-7049-4A53-826B-D5C680BA9D7B}"/>
              </a:ext>
            </a:extLst>
          </p:cNvPr>
          <p:cNvSpPr>
            <a:spLocks noGrp="1"/>
          </p:cNvSpPr>
          <p:nvPr/>
        </p:nvSpPr>
        <p:spPr>
          <a:xfrm>
            <a:off x="4229100" y="3238500"/>
            <a:ext cx="72771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BCFF93-4CFE-44A1-9554-214A2482F0D4}"/>
              </a:ext>
            </a:extLst>
          </p:cNvPr>
          <p:cNvSpPr>
            <a:spLocks noGrp="1"/>
          </p:cNvSpPr>
          <p:nvPr/>
        </p:nvSpPr>
        <p:spPr>
          <a:xfrm>
            <a:off x="4229100" y="3600450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ENGINEERING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CACA8-05F1-4101-971B-E504B4867B23}"/>
              </a:ext>
            </a:extLst>
          </p:cNvPr>
          <p:cNvSpPr>
            <a:spLocks noGrp="1"/>
          </p:cNvSpPr>
          <p:nvPr/>
        </p:nvSpPr>
        <p:spPr>
          <a:xfrm>
            <a:off x="4229100" y="385762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Complete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1548D40-69D4-47E1-B870-6E520A353C0C}"/>
              </a:ext>
            </a:extLst>
          </p:cNvPr>
          <p:cNvSpPr>
            <a:spLocks noGrp="1"/>
          </p:cNvSpPr>
          <p:nvPr/>
        </p:nvSpPr>
        <p:spPr>
          <a:xfrm>
            <a:off x="6038850" y="3981450"/>
            <a:ext cx="876300" cy="0"/>
          </a:xfrm>
          <a:prstGeom prst="line">
            <a:avLst/>
          </a:prstGeom>
          <a:noFill/>
          <a:ln w="19050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2D7C6D-DF5F-49F7-8273-E4B6146F2244}"/>
              </a:ext>
            </a:extLst>
          </p:cNvPr>
          <p:cNvSpPr>
            <a:spLocks noGrp="1"/>
          </p:cNvSpPr>
          <p:nvPr/>
        </p:nvSpPr>
        <p:spPr>
          <a:xfrm>
            <a:off x="6877050" y="3924300"/>
            <a:ext cx="114300" cy="11430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034691-7FF3-4DDF-8B75-5352519304A5}"/>
              </a:ext>
            </a:extLst>
          </p:cNvPr>
          <p:cNvSpPr>
            <a:spLocks noGrp="1"/>
          </p:cNvSpPr>
          <p:nvPr/>
        </p:nvSpPr>
        <p:spPr>
          <a:xfrm>
            <a:off x="7200900" y="36004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FABRICATION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6CE684-B788-4A24-A9AC-046EE4447245}"/>
              </a:ext>
            </a:extLst>
          </p:cNvPr>
          <p:cNvSpPr>
            <a:spLocks noGrp="1"/>
          </p:cNvSpPr>
          <p:nvPr/>
        </p:nvSpPr>
        <p:spPr>
          <a:xfrm>
            <a:off x="7200900" y="38576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Steel work starting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042210-1AF2-4071-9CA4-F126D8D4E2F4}"/>
              </a:ext>
            </a:extLst>
          </p:cNvPr>
          <p:cNvSpPr>
            <a:spLocks noGrp="1"/>
          </p:cNvSpPr>
          <p:nvPr/>
        </p:nvSpPr>
        <p:spPr>
          <a:xfrm>
            <a:off x="4229100" y="45720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Budget tracking remains close to plan.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1DAE1-CC00-4E84-94A8-A7EC64DC6C9F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76200" cy="552450"/>
          </a:xfrm>
          <a:prstGeom prst="rect">
            <a:avLst/>
          </a:prstGeom>
          <a:solidFill>
            <a:srgbClr val="0B7A75"/>
          </a:solidFill>
          <a:ln w="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FD5D19-B19E-4A4F-966F-FF63FEE3554B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CURRENT FOCUS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77908-1E90-44A8-9638-37D075FD07E3}"/>
              </a:ext>
            </a:extLst>
          </p:cNvPr>
          <p:cNvSpPr>
            <a:spLocks noGrp="1"/>
          </p:cNvSpPr>
          <p:nvPr/>
        </p:nvSpPr>
        <p:spPr>
          <a:xfrm>
            <a:off x="933450" y="5791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Move cleanly from engineering completion into steel fabrication.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AC0B002-D296-404C-8E5E-3BAA01BE743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331B5E-1290-4058-B749-723D8E4C867E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16CA16-16A8-4BFE-9DAE-8CC51CD3A0F6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80204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FB4D6EB-33BE-44A5-B847-EAB31071D70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PRJ-004  ·  WORKBOAT HULL</a:t>
            </a:r>
          </a:p>
        </p:txBody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A0DDB1AD-D156-4941-B098-C40FB34A180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03"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PRJ-004: 70% complete with budget pressure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6B6B8-C323-444C-8D6E-CAC9D8AB9250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CE41DA2-C4B4-4322-83BD-00125EBA6706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0014A-24EC-4D41-9EF2-AA73752A1459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5250" cy="95250"/>
          </a:xfrm>
          <a:prstGeom prst="rect">
            <a:avLst/>
          </a:prstGeom>
          <a:solidFill>
            <a:srgbClr val="2A9D6F"/>
          </a:solidFill>
          <a:ln w="0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50319-E889-4735-8A91-D6B29491F0F5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ACTIVE / ON 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C8032-C12C-4435-BADF-1C249E658FD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47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561"/>
          </a:bodyPr>
          <a:lstStyle/>
          <a:p>
            <a:pPr algn="l">
              <a:lnSpc>
                <a:spcPct val="100000"/>
              </a:lnSpc>
              <a:buNone/>
              <a:defRPr sz="61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70%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42DA2-72D2-49ED-BBE0-744BA50C3768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DRAWINGS APPROVED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817D7-79FA-40CB-980A-3D6672F74123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Welding and assembly are ongoing.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4095750" y="2047875"/>
          <a:ext cx="74104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EDC52EA-A973-40AF-BA7D-94CED9A6DE22}"/>
              </a:ext>
            </a:extLst>
          </p:cNvPr>
          <p:cNvSpPr>
            <a:spLocks noGrp="1"/>
          </p:cNvSpPr>
          <p:nvPr/>
        </p:nvSpPr>
        <p:spPr>
          <a:xfrm>
            <a:off x="10001250" y="45148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USD MILLIONS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EBD48D0-8AC8-4113-9F55-ECB58972667D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B41A2-6702-4B02-B9DC-56BC6C6272A8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COST PERFORMANCE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ABE198-D56C-4E5A-8CDA-70895C3BBBEF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0.95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BA4BE3-2474-4E1F-99D2-CA3441F1BF4C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Slight budget pressure; monitor fabrication productivity through completion.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75E5902-0B2F-4133-9570-BF691E287C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E2D85A-C054-49D7-87A7-17829B8A6C4B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BCD8A1-6A3F-486B-B9DE-3EB59070C1C6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76691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D670263-EC21-4598-B167-FD5A3F7EAE3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PRJ-005  ·  LOGISTICS PONTOON</a:t>
            </a:r>
          </a:p>
        </p:txBody>
      </p:sp>
      <p:sp>
        <p:nvSpPr>
          <p:cNvPr id="2" name="slide-8-title">
            <a:extLst>
              <a:ext uri="{FF2B5EF4-FFF2-40B4-BE49-F238E27FC236}">
                <a16:creationId xmlns:a16="http://schemas.microsoft.com/office/drawing/2014/main" id="{9B4F7D54-1D96-4E37-B532-838838FF3DDA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PRJ-005 nears completion at CPI 0.97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6BD11-C2E8-4BCB-9EDA-81260CBE9625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7FA558C-D15B-415D-BE0D-7C519F1E0DB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35B99-266A-48A9-83CF-80AC86DAF8E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5250" cy="95250"/>
          </a:xfrm>
          <a:prstGeom prst="rect">
            <a:avLst/>
          </a:prstGeom>
          <a:solidFill>
            <a:srgbClr val="2A9D6F"/>
          </a:solidFill>
          <a:ln w="0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CBC471-D4BB-4ABC-8C00-F22276AED0B9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ACTIVE / ON 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AD9B34-553B-4DCC-BDA2-765EC486B17D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C13729-7BB4-43E2-9AA6-59D3D654AAE7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$1.00M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F5AAB-4D75-490D-B4F0-4BF15C2390E7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SPENT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D0F1D-7F1E-4422-877E-6C5BA591DC72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$927K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5CFCE8-2E3C-4DEC-840F-58D215C4A6E9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09FE20-F44C-4CCD-9B98-D30A8A1FFE6B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0.97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6C870FD-C489-4C27-8FFF-2266618D3E3C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0" cy="323850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14" name="Chart"/>
          <p:cNvGraphicFramePr/>
          <p:nvPr/>
        </p:nvGraphicFramePr>
        <p:xfrm>
          <a:off x="4953000" y="2019300"/>
          <a:ext cx="2781300" cy="278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837E37A-51B4-46C7-910F-1C6877C698CB}"/>
              </a:ext>
            </a:extLst>
          </p:cNvPr>
          <p:cNvSpPr>
            <a:spLocks noGrp="1"/>
          </p:cNvSpPr>
          <p:nvPr/>
        </p:nvSpPr>
        <p:spPr>
          <a:xfrm>
            <a:off x="5453634" y="3048381"/>
            <a:ext cx="178003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90%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B44A37-DCAD-4040-A7AA-27AE51531E9F}"/>
              </a:ext>
            </a:extLst>
          </p:cNvPr>
          <p:cNvSpPr>
            <a:spLocks noGrp="1"/>
          </p:cNvSpPr>
          <p:nvPr/>
        </p:nvSpPr>
        <p:spPr>
          <a:xfrm>
            <a:off x="5620512" y="3576828"/>
            <a:ext cx="1446276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COMPLETE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474722-0B9D-4FAA-A01F-9C8DB337BEE8}"/>
              </a:ext>
            </a:extLst>
          </p:cNvPr>
          <p:cNvSpPr>
            <a:spLocks noGrp="1"/>
          </p:cNvSpPr>
          <p:nvPr/>
        </p:nvSpPr>
        <p:spPr>
          <a:xfrm>
            <a:off x="8572500" y="2286000"/>
            <a:ext cx="2933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FINANCIAL POSITION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CE6F88-AA80-4075-A336-A11C5AED7E66}"/>
              </a:ext>
            </a:extLst>
          </p:cNvPr>
          <p:cNvSpPr>
            <a:spLocks noGrp="1"/>
          </p:cNvSpPr>
          <p:nvPr/>
        </p:nvSpPr>
        <p:spPr>
          <a:xfrm>
            <a:off x="8572500" y="2590800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In good standing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B704722-8614-4FE4-A962-D22BB1BF69A2}"/>
              </a:ext>
            </a:extLst>
          </p:cNvPr>
          <p:cNvSpPr>
            <a:spLocks noGrp="1"/>
          </p:cNvSpPr>
          <p:nvPr/>
        </p:nvSpPr>
        <p:spPr>
          <a:xfrm>
            <a:off x="9010650" y="3143250"/>
            <a:ext cx="24955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8BDCE5-B3C1-4E1F-8298-A11913E3199C}"/>
              </a:ext>
            </a:extLst>
          </p:cNvPr>
          <p:cNvSpPr>
            <a:spLocks noGrp="1"/>
          </p:cNvSpPr>
          <p:nvPr/>
        </p:nvSpPr>
        <p:spPr>
          <a:xfrm>
            <a:off x="8572500" y="3486150"/>
            <a:ext cx="2933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PROJECT MANAGER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AAC474-3A74-427B-9747-3251AD60F55D}"/>
              </a:ext>
            </a:extLst>
          </p:cNvPr>
          <p:cNvSpPr>
            <a:spLocks noGrp="1"/>
          </p:cNvSpPr>
          <p:nvPr/>
        </p:nvSpPr>
        <p:spPr>
          <a:xfrm>
            <a:off x="8572500" y="3790950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875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Frank Ellingsen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34614D-3E8A-4CF4-AA87-5676D14A62F8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76200" cy="552450"/>
          </a:xfrm>
          <a:prstGeom prst="rect">
            <a:avLst/>
          </a:prstGeom>
          <a:solidFill>
            <a:srgbClr val="0B7A75"/>
          </a:solidFill>
          <a:ln w="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5FDFBC-DC90-4144-8A3D-3E09D9DEFA69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NEAR-TERM PRIORITY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36A73F-9E9F-4967-8373-9D118033BBE1}"/>
              </a:ext>
            </a:extLst>
          </p:cNvPr>
          <p:cNvSpPr>
            <a:spLocks noGrp="1"/>
          </p:cNvSpPr>
          <p:nvPr/>
        </p:nvSpPr>
        <p:spPr>
          <a:xfrm>
            <a:off x="933450" y="5791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Protect the final 10% from avoidable cost leakage.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CA6B4FB-9C0E-43A8-9BF0-8DFDA076580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B5C797-5914-476E-B91D-B00276747B62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C16325-2A10-42D6-8FBC-A3E48735D721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213284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6273130-B106-4062-BF02-311E70860A6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PRJ-006  ·  CARGO HATCH</a:t>
            </a:r>
          </a:p>
        </p:txBody>
      </p:sp>
      <p:sp>
        <p:nvSpPr>
          <p:cNvPr id="2" name="slide-9-title">
            <a:extLst>
              <a:ext uri="{FF2B5EF4-FFF2-40B4-BE49-F238E27FC236}">
                <a16:creationId xmlns:a16="http://schemas.microsoft.com/office/drawing/2014/main" id="{41980B67-5DA9-4C79-8A1B-FD964DFD422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07"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PRJ-006 closes under budget at CPI 1.02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8064D-D4C5-40E1-88B9-3902B00BF92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FC2B4C4-C192-45D5-B0FA-232DED864F5C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449D6D-EBEE-435F-AEA7-427D1B99E18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5250" cy="95250"/>
          </a:xfrm>
          <a:prstGeom prst="rect">
            <a:avLst/>
          </a:prstGeom>
          <a:solidFill>
            <a:srgbClr val="2A9D6F"/>
          </a:solidFill>
          <a:ln w="0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782229-F131-4EA1-89AF-D2F2B9DEAC42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A9D6F"/>
                </a:solidFill>
                <a:latin typeface="Aptos Display"/>
                <a:ea typeface="Aptos Display"/>
                <a:cs typeface="Aptos Display"/>
              </a:rPr>
              <a:t>COMPLETED / ON 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011247-02D5-4B47-ACD4-023CC9939812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85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22EAE-F769-402E-8398-E8C39FE33867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DELIVERED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4F851A-1690-4E1A-BE30-4B812E2C6313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Molding and testing fully verified.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E726AD1-07BF-43BC-A823-21D857615BDB}"/>
              </a:ext>
            </a:extLst>
          </p:cNvPr>
          <p:cNvSpPr>
            <a:spLocks noGrp="1"/>
          </p:cNvSpPr>
          <p:nvPr/>
        </p:nvSpPr>
        <p:spPr>
          <a:xfrm>
            <a:off x="4286250" y="1962150"/>
            <a:ext cx="0" cy="321945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A81113-A139-47B3-888A-DEF6A3D920DE}"/>
              </a:ext>
            </a:extLst>
          </p:cNvPr>
          <p:cNvSpPr>
            <a:spLocks noGrp="1"/>
          </p:cNvSpPr>
          <p:nvPr/>
        </p:nvSpPr>
        <p:spPr>
          <a:xfrm>
            <a:off x="4895850" y="21526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0C7EBC-9E73-4235-9E35-BD5DB5328E0F}"/>
              </a:ext>
            </a:extLst>
          </p:cNvPr>
          <p:cNvSpPr>
            <a:spLocks noGrp="1"/>
          </p:cNvSpPr>
          <p:nvPr/>
        </p:nvSpPr>
        <p:spPr>
          <a:xfrm>
            <a:off x="4895850" y="238125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$600K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C85DE3-AD1B-4252-84C2-3C7F27FCBEFA}"/>
              </a:ext>
            </a:extLst>
          </p:cNvPr>
          <p:cNvSpPr>
            <a:spLocks noGrp="1"/>
          </p:cNvSpPr>
          <p:nvPr/>
        </p:nvSpPr>
        <p:spPr>
          <a:xfrm>
            <a:off x="7429500" y="21526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SPENT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4232D-9451-4606-B306-F0B5610FFEC2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76D4C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76D4C9"/>
                </a:solidFill>
                <a:latin typeface="Aptos Display"/>
                <a:ea typeface="Aptos Display"/>
                <a:cs typeface="Aptos Display"/>
              </a:rPr>
              <a:t>$586.5K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99D37-96CC-4988-9307-BF25CE141850}"/>
              </a:ext>
            </a:extLst>
          </p:cNvPr>
          <p:cNvSpPr>
            <a:spLocks noGrp="1"/>
          </p:cNvSpPr>
          <p:nvPr/>
        </p:nvSpPr>
        <p:spPr>
          <a:xfrm>
            <a:off x="10001250" y="21526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CPI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988188-6755-49DC-A269-E7B0232EE865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504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76D4C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76D4C9"/>
                </a:solidFill>
                <a:latin typeface="Aptos Display"/>
                <a:ea typeface="Aptos Display"/>
                <a:cs typeface="Aptos Display"/>
              </a:rPr>
              <a:t>1.02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28A6794-7B4E-4AB4-BA77-E55089565291}"/>
              </a:ext>
            </a:extLst>
          </p:cNvPr>
          <p:cNvSpPr>
            <a:spLocks noGrp="1"/>
          </p:cNvSpPr>
          <p:nvPr/>
        </p:nvSpPr>
        <p:spPr>
          <a:xfrm>
            <a:off x="4895850" y="3448050"/>
            <a:ext cx="6610350" cy="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0123A-6AA3-45D8-8941-6480A0CF1288}"/>
              </a:ext>
            </a:extLst>
          </p:cNvPr>
          <p:cNvSpPr>
            <a:spLocks noGrp="1"/>
          </p:cNvSpPr>
          <p:nvPr/>
        </p:nvSpPr>
        <p:spPr>
          <a:xfrm>
            <a:off x="4895850" y="38862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BD0DA"/>
                </a:solidFill>
                <a:latin typeface="Aptos Display"/>
                <a:ea typeface="Aptos Display"/>
                <a:cs typeface="Aptos Display"/>
              </a:rPr>
              <a:t>UNDER BUDGET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5050D8-624F-4050-916C-0E8394646381}"/>
              </a:ext>
            </a:extLst>
          </p:cNvPr>
          <p:cNvSpPr>
            <a:spLocks noGrp="1"/>
          </p:cNvSpPr>
          <p:nvPr/>
        </p:nvSpPr>
        <p:spPr>
          <a:xfrm>
            <a:off x="4895850" y="41910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79" lnSpcReduction="10000"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$13.5K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91EF42-6FC6-4FD5-B840-9DF9C0111398}"/>
              </a:ext>
            </a:extLst>
          </p:cNvPr>
          <p:cNvSpPr>
            <a:spLocks noGrp="1"/>
          </p:cNvSpPr>
          <p:nvPr/>
        </p:nvSpPr>
        <p:spPr>
          <a:xfrm>
            <a:off x="7429500" y="4057650"/>
            <a:ext cx="4076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07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Successful close-out confirms disciplined delivery and verification.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00CAE2-C221-4BD4-B6FF-115C5B1A38E1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76200" cy="552450"/>
          </a:xfrm>
          <a:prstGeom prst="rect">
            <a:avLst/>
          </a:prstGeom>
          <a:solidFill>
            <a:srgbClr val="2A9D6F"/>
          </a:solidFill>
          <a:ln w="0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45EF72-8D01-45B0-AE6B-AE181812C29A}"/>
              </a:ext>
            </a:extLst>
          </p:cNvPr>
          <p:cNvSpPr>
            <a:spLocks noGrp="1"/>
          </p:cNvSpPr>
          <p:nvPr/>
        </p:nvSpPr>
        <p:spPr>
          <a:xfrm>
            <a:off x="933450" y="55435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76D4C9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76D4C9"/>
                </a:solidFill>
                <a:latin typeface="Aptos Display"/>
                <a:ea typeface="Aptos Display"/>
                <a:cs typeface="Aptos Display"/>
              </a:rPr>
              <a:t>CLOSE-OUT RESULT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2F63A-2A5E-4528-9D79-18EC2BE3CA48}"/>
              </a:ext>
            </a:extLst>
          </p:cNvPr>
          <p:cNvSpPr>
            <a:spLocks noGrp="1"/>
          </p:cNvSpPr>
          <p:nvPr/>
        </p:nvSpPr>
        <p:spPr>
          <a:xfrm>
            <a:off x="933450" y="57912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 on scope, fully verified, and under budget.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B81536A8-D118-4BAF-83F2-6A9955F716D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36566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B790CB-0646-4610-A002-1F94A959F0D5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777419-962E-4466-9F71-8B4E6C8916F3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FC6D2"/>
                </a:solidFill>
                <a:latin typeface="Aptos Display"/>
                <a:ea typeface="Aptos Display"/>
                <a:cs typeface="Aptos Display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36352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9902129-5013-4ADC-94B1-09FD9D626B7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PORTFOLIO RAID</a:t>
            </a:r>
          </a:p>
        </p:txBody>
      </p:sp>
      <p:sp>
        <p:nvSpPr>
          <p:cNvPr id="2" name="slide-10-title">
            <a:extLst>
              <a:ext uri="{FF2B5EF4-FFF2-40B4-BE49-F238E27FC236}">
                <a16:creationId xmlns:a16="http://schemas.microsoft.com/office/drawing/2014/main" id="{CB61A94F-74ED-41F7-A648-7CFD6DB5725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78"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Three constraints need active mitigation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BD464-B602-4EBB-9F06-33BB3BE36C6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4B1B4B-8BF8-43B2-B041-CE994156479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8EAD0-48F0-4083-BB1F-380A45B293D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6194EF-3BA3-4959-AEDF-7DE648B40E45}"/>
              </a:ext>
            </a:extLst>
          </p:cNvPr>
          <p:cNvSpPr>
            <a:spLocks noGrp="1"/>
          </p:cNvSpPr>
          <p:nvPr/>
        </p:nvSpPr>
        <p:spPr>
          <a:xfrm>
            <a:off x="2552700" y="1790700"/>
            <a:ext cx="847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Carbon sheet delivery delay from supplier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B1A884A-A89A-459D-8B14-F998127B5437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A6802-7B7B-4779-ABC2-15BDA94730A9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ISSUE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1B3000-23A7-45DC-B52F-B85DAED5E46E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847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Welder overtime limits exceeded in fabrication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16FD561-5756-47C5-B87B-9650BC4ED00A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693FBE-E107-4FB7-9312-E9A613DD90E9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DEPENDENCY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843501-842E-43D0-A222-477E6CB76364}"/>
              </a:ext>
            </a:extLst>
          </p:cNvPr>
          <p:cNvSpPr>
            <a:spLocks noGrp="1"/>
          </p:cNvSpPr>
          <p:nvPr/>
        </p:nvSpPr>
        <p:spPr>
          <a:xfrm>
            <a:off x="2552700" y="3924300"/>
            <a:ext cx="847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Sea trials depend on DNV class approval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EF4F783-BB37-4884-951E-04B88B0453D1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E44B54-E346-4B34-BCFC-BE97E28193E1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76200" cy="87630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3D72F3-98F8-4D01-90DA-1E73C0D415BA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MITIGATION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757CA6-F14C-4BDE-A67E-7D2E8F21B408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Allocate junior welders to assist.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EF68D4-196A-451C-AA80-59EF1CF7273B}"/>
              </a:ext>
            </a:extLst>
          </p:cNvPr>
          <p:cNvSpPr>
            <a:spLocks noGrp="1"/>
          </p:cNvSpPr>
          <p:nvPr/>
        </p:nvSpPr>
        <p:spPr>
          <a:xfrm>
            <a:off x="7829550" y="5810250"/>
            <a:ext cx="3676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Immediate relief for fabrication capacity constraints.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4B1C860-2016-4BDF-ADD6-1B945754FB4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4714F1-893F-479B-98C9-88B0C4185F17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DF4B9-210A-417B-B1BE-B53D3AF5C442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91427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B9FDBC2-BE78-4D40-ABA5-2D53B9006CF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RECOMMENDATIONS</a:t>
            </a:r>
          </a:p>
        </p:txBody>
      </p:sp>
      <p:sp>
        <p:nvSpPr>
          <p:cNvPr id="2" name="slide-11-title">
            <a:extLst>
              <a:ext uri="{FF2B5EF4-FFF2-40B4-BE49-F238E27FC236}">
                <a16:creationId xmlns:a16="http://schemas.microsoft.com/office/drawing/2014/main" id="{4DFB6971-7A57-4518-A806-54F9DBF26A7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71"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Four actions stabilize cost and schedule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4A1CC-6B1E-4E51-9CA7-AB92BAD5ECE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7217957-22ED-4C46-86E4-AA23FD50A11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810A1-877C-44E9-B7E2-21EF97F209C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26B3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E5F25-8583-4BED-9BBB-E3354736FAEB}"/>
              </a:ext>
            </a:extLst>
          </p:cNvPr>
          <p:cNvSpPr>
            <a:spLocks noGrp="1"/>
          </p:cNvSpPr>
          <p:nvPr/>
        </p:nvSpPr>
        <p:spPr>
          <a:xfrm>
            <a:off x="1562100" y="1733550"/>
            <a:ext cx="38100" cy="49530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3FE56D-9BDD-4C9D-9EA2-F915BFF523CA}"/>
              </a:ext>
            </a:extLst>
          </p:cNvPr>
          <p:cNvSpPr>
            <a:spLocks noGrp="1"/>
          </p:cNvSpPr>
          <p:nvPr/>
        </p:nvSpPr>
        <p:spPr>
          <a:xfrm>
            <a:off x="1885950" y="1695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Renegotiate outfitting contractor rates (WBS 1 &amp; 3)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43F7AB3-0B06-4E13-9707-35302EEBC6ED}"/>
              </a:ext>
            </a:extLst>
          </p:cNvPr>
          <p:cNvSpPr>
            <a:spLocks noGrp="1"/>
          </p:cNvSpPr>
          <p:nvPr/>
        </p:nvSpPr>
        <p:spPr>
          <a:xfrm>
            <a:off x="1885950" y="2381250"/>
            <a:ext cx="96202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371EAD-44DA-461E-93EF-19C8F566D3C2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F2C57-56A5-481A-AFF6-E8E4814051BF}"/>
              </a:ext>
            </a:extLst>
          </p:cNvPr>
          <p:cNvSpPr>
            <a:spLocks noGrp="1"/>
          </p:cNvSpPr>
          <p:nvPr/>
        </p:nvSpPr>
        <p:spPr>
          <a:xfrm>
            <a:off x="1562100" y="2705100"/>
            <a:ext cx="38100" cy="495300"/>
          </a:xfrm>
          <a:prstGeom prst="rect">
            <a:avLst/>
          </a:prstGeom>
          <a:solidFill>
            <a:srgbClr val="C9D8DF"/>
          </a:solidFill>
          <a:ln w="0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92707-69B1-427F-B1E2-E15E97AA1514}"/>
              </a:ext>
            </a:extLst>
          </p:cNvPr>
          <p:cNvSpPr>
            <a:spLocks noGrp="1"/>
          </p:cNvSpPr>
          <p:nvPr/>
        </p:nvSpPr>
        <p:spPr>
          <a:xfrm>
            <a:off x="1885950" y="26670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Shift composite fabricators to outfitting to optimize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DAF5E61-3DF5-4CE0-A763-D661C624F737}"/>
              </a:ext>
            </a:extLst>
          </p:cNvPr>
          <p:cNvSpPr>
            <a:spLocks noGrp="1"/>
          </p:cNvSpPr>
          <p:nvPr/>
        </p:nvSpPr>
        <p:spPr>
          <a:xfrm>
            <a:off x="1885950" y="3352800"/>
            <a:ext cx="96202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503F9-0339-4BA7-9D87-8FF71AFFED9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A51DF-986B-406A-BF53-30C26CE1E0E8}"/>
              </a:ext>
            </a:extLst>
          </p:cNvPr>
          <p:cNvSpPr>
            <a:spLocks noGrp="1"/>
          </p:cNvSpPr>
          <p:nvPr/>
        </p:nvSpPr>
        <p:spPr>
          <a:xfrm>
            <a:off x="1562100" y="3676650"/>
            <a:ext cx="38100" cy="495300"/>
          </a:xfrm>
          <a:prstGeom prst="rect">
            <a:avLst/>
          </a:prstGeom>
          <a:solidFill>
            <a:srgbClr val="C9D8DF"/>
          </a:solidFill>
          <a:ln w="0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DDF9FB-802D-461F-AE9A-7E041E9B2A1A}"/>
              </a:ext>
            </a:extLst>
          </p:cNvPr>
          <p:cNvSpPr>
            <a:spLocks noGrp="1"/>
          </p:cNvSpPr>
          <p:nvPr/>
        </p:nvSpPr>
        <p:spPr>
          <a:xfrm>
            <a:off x="1885950" y="36385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Enforce double-shift schedules to recover sea trials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7BBF67F-D853-4DF0-A1D8-5B8DE0DF169B}"/>
              </a:ext>
            </a:extLst>
          </p:cNvPr>
          <p:cNvSpPr>
            <a:spLocks noGrp="1"/>
          </p:cNvSpPr>
          <p:nvPr/>
        </p:nvSpPr>
        <p:spPr>
          <a:xfrm>
            <a:off x="1885950" y="4324350"/>
            <a:ext cx="96202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059E8C-E0C6-4F72-97B1-44853EB92C4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7A7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1D4684-F0F1-4249-83B1-C0D37E1ACF1B}"/>
              </a:ext>
            </a:extLst>
          </p:cNvPr>
          <p:cNvSpPr>
            <a:spLocks noGrp="1"/>
          </p:cNvSpPr>
          <p:nvPr/>
        </p:nvSpPr>
        <p:spPr>
          <a:xfrm>
            <a:off x="1562100" y="4648200"/>
            <a:ext cx="38100" cy="495300"/>
          </a:xfrm>
          <a:prstGeom prst="rect">
            <a:avLst/>
          </a:prstGeom>
          <a:solidFill>
            <a:srgbClr val="C9D8DF"/>
          </a:solidFill>
          <a:ln w="0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281288-C5A0-47D7-9F51-3BAD2CFF6F34}"/>
              </a:ext>
            </a:extLst>
          </p:cNvPr>
          <p:cNvSpPr>
            <a:spLocks noGrp="1"/>
          </p:cNvSpPr>
          <p:nvPr/>
        </p:nvSpPr>
        <p:spPr>
          <a:xfrm>
            <a:off x="1885950" y="46101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Integrate DuckDB tracking into future estimations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AEE7538-AA40-418C-AFD4-D5CF4B47D792}"/>
              </a:ext>
            </a:extLst>
          </p:cNvPr>
          <p:cNvSpPr>
            <a:spLocks noGrp="1"/>
          </p:cNvSpPr>
          <p:nvPr/>
        </p:nvSpPr>
        <p:spPr>
          <a:xfrm>
            <a:off x="1885950" y="5295900"/>
            <a:ext cx="962025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5FD12E-AD8A-4B7F-A05F-23E888493A3A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86581"/>
                </a:solidFill>
                <a:latin typeface="Aptos Display"/>
                <a:ea typeface="Aptos Display"/>
                <a:cs typeface="Aptos Display"/>
              </a:rPr>
              <a:t>NEXT REVIEW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9FA33E-4E1E-41C8-87EA-7BF0A88419E2}"/>
              </a:ext>
            </a:extLst>
          </p:cNvPr>
          <p:cNvSpPr>
            <a:spLocks noGrp="1"/>
          </p:cNvSpPr>
          <p:nvPr/>
        </p:nvSpPr>
        <p:spPr>
          <a:xfrm>
            <a:off x="1885950" y="573405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Track owner, due date, and measurable impact for each action.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D3DFA7-90DB-47B2-B5EA-D06523EF1EA2}"/>
              </a:ext>
            </a:extLst>
          </p:cNvPr>
          <p:cNvSpPr>
            <a:spLocks noGrp="1"/>
          </p:cNvSpPr>
          <p:nvPr/>
        </p:nvSpPr>
        <p:spPr>
          <a:xfrm>
            <a:off x="11125200" y="5734050"/>
            <a:ext cx="381000" cy="76200"/>
          </a:xfrm>
          <a:prstGeom prst="rect">
            <a:avLst/>
          </a:prstGeom>
          <a:solidFill>
            <a:srgbClr val="F26B38"/>
          </a:solidFill>
          <a:ln w="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0B891203-8C89-45A5-846D-F223534A59D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744185-012A-4178-A788-5CA0E5568128}"/>
              </a:ext>
            </a:extLst>
          </p:cNvPr>
          <p:cNvSpPr>
            <a:spLocks noGrp="1"/>
          </p:cNvSpPr>
          <p:nvPr/>
        </p:nvSpPr>
        <p:spPr>
          <a:xfrm>
            <a:off x="685800" y="6543675"/>
            <a:ext cx="590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Q2 2026  ·  PROJECT PORTFOLIO EXECUTIVE REVIEW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351AFB-1D27-4FF7-9D2C-22EC1D260C88}"/>
              </a:ext>
            </a:extLst>
          </p:cNvPr>
          <p:cNvSpPr>
            <a:spLocks noGrp="1"/>
          </p:cNvSpPr>
          <p:nvPr/>
        </p:nvSpPr>
        <p:spPr>
          <a:xfrm>
            <a:off x="10668000" y="65436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8294"/>
                </a:solidFill>
                <a:latin typeface="Aptos Display"/>
                <a:ea typeface="Aptos Display"/>
                <a:cs typeface="Aptos Display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8487682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653</Words>
  <Application>Microsoft Office PowerPoint</Application>
  <PresentationFormat>Widescreen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Aptos Display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Ellingsen</cp:lastModifiedBy>
  <cp:revision>2</cp:revision>
  <dcterms:created xsi:type="dcterms:W3CDTF">2013-01-27T09:14:16Z</dcterms:created>
  <dcterms:modified xsi:type="dcterms:W3CDTF">2026-08-01T16:36:59Z</dcterms:modified>
  <cp:category/>
</cp:coreProperties>
</file>